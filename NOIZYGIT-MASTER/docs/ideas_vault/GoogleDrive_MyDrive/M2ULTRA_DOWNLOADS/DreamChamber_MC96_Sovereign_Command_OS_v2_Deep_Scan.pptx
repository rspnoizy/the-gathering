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C96_MASTER">
    <p:bg>
      <p:bgPr>
        <a:solidFill>
          <a:srgbClr val="06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0"/>
          </a:solidFill>
          <a:ln w="12700">
            <a:solidFill>
              <a:srgbClr val="060A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078992"/>
            <a:ext cx="11183112" cy="0"/>
          </a:xfrm>
          <a:prstGeom prst="line">
            <a:avLst/>
          </a:prstGeom>
          <a:noFill/>
          <a:ln w="12700">
            <a:solidFill>
              <a:srgbClr val="1B28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446520"/>
            <a:ext cx="11183112" cy="0"/>
          </a:xfrm>
          <a:prstGeom prst="line">
            <a:avLst/>
          </a:prstGeom>
          <a:noFill/>
          <a:ln w="12700">
            <a:solidFill>
              <a:srgbClr val="1520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19672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283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NOIZYFISH · RSP_001 · DREAMCHAMBER / MC96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469880" y="651967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GORUNFREE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001000" y="137160"/>
            <a:ext cx="3840480" cy="3840480"/>
          </a:xfrm>
          <a:prstGeom prst="arc">
            <a:avLst/>
          </a:prstGeom>
          <a:solidFill>
            <a:srgbClr val="43D5E8">
              <a:alpha val="0"/>
            </a:srgbClr>
          </a:solidFill>
          <a:ln w="15240">
            <a:solidFill>
              <a:srgbClr val="43D5E8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8458200" y="594360"/>
            <a:ext cx="2926080" cy="2926080"/>
          </a:xfrm>
          <a:prstGeom prst="arc">
            <a:avLst/>
          </a:prstGeom>
          <a:solidFill>
            <a:srgbClr val="E4B85A">
              <a:alpha val="0"/>
            </a:srgbClr>
          </a:solidFill>
          <a:ln w="15240">
            <a:solidFill>
              <a:srgbClr val="E4B85A">
                <a:alpha val="3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3035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DREAMCHAMBER / MC96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6629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Sovereign Command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Operating System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13232" y="2880360"/>
            <a:ext cx="5715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Deep-scan upgrade · architecture, safety, voice, observability, and launch hardening for the NOIZYFISH command spine.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35240" y="1024128"/>
            <a:ext cx="3566160" cy="841248"/>
          </a:xfrm>
          <a:prstGeom prst="roundRect">
            <a:avLst>
              <a:gd name="adj" fmla="val 8696"/>
            </a:avLst>
          </a:prstGeom>
          <a:solidFill>
            <a:srgbClr val="0F1823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63256" y="1152144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RSP_001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63256" y="1417320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hardware-backed identity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635240" y="2139696"/>
            <a:ext cx="3566160" cy="841248"/>
          </a:xfrm>
          <a:prstGeom prst="roundRect">
            <a:avLst>
              <a:gd name="adj" fmla="val 8696"/>
            </a:avLst>
          </a:prstGeom>
          <a:solidFill>
            <a:srgbClr val="0F1823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63256" y="2267712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MC96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63256" y="2532888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· route · observe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635240" y="3255264"/>
            <a:ext cx="3566160" cy="841248"/>
          </a:xfrm>
          <a:prstGeom prst="roundRect">
            <a:avLst>
              <a:gd name="adj" fmla="val 8696"/>
            </a:avLst>
          </a:prstGeom>
          <a:solidFill>
            <a:srgbClr val="0F182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63256" y="3383280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DREAMCHAMBER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63256" y="3648456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capability-bounded execution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635240" y="4370832"/>
            <a:ext cx="3566160" cy="841248"/>
          </a:xfrm>
          <a:prstGeom prst="roundRect">
            <a:avLst>
              <a:gd name="adj" fmla="val 8696"/>
            </a:avLst>
          </a:prstGeom>
          <a:solidFill>
            <a:srgbClr val="0F1823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63256" y="4498848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63256" y="4764024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signed terminal receipt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418320" y="1865376"/>
            <a:ext cx="0" cy="274320"/>
          </a:xfrm>
          <a:prstGeom prst="line">
            <a:avLst/>
          </a:prstGeom>
          <a:noFill/>
          <a:ln w="1905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418320" y="2980944"/>
            <a:ext cx="0" cy="274320"/>
          </a:xfrm>
          <a:prstGeom prst="line">
            <a:avLst/>
          </a:prstGeom>
          <a:noFill/>
          <a:ln w="1905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418320" y="4096512"/>
            <a:ext cx="0" cy="274320"/>
          </a:xfrm>
          <a:prstGeom prst="line">
            <a:avLst/>
          </a:prstGeom>
          <a:noFill/>
          <a:ln w="1905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13232" y="4983480"/>
            <a:ext cx="5715000" cy="310896"/>
          </a:xfrm>
          <a:prstGeom prst="roundRect">
            <a:avLst>
              <a:gd name="adj" fmla="val 23529"/>
            </a:avLst>
          </a:prstGeom>
          <a:solidFill>
            <a:srgbClr val="0F1823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5052060"/>
            <a:ext cx="5568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COMMAND · ONE BOUNDED PLAN · ONE TERMINAL RECEIPT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571500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575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Source session reference: Warp conversation da451646-2e73-486c-9bf0-d9f4de7a88b9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31520" y="623620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575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FishMusicInc / RSP_001 · 2026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784080" y="61447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GORUNFREE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THESIS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This is an operating system for human intent—not another chatbot.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MC96 turns natural intent into a bounded plan, pauses at risk, executes through narrow capabilities, and returns proof.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13232" y="1581912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E4B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1152144" y="1783080"/>
            <a:ext cx="5230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Human control is the product.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41248" y="3044952"/>
            <a:ext cx="82296" cy="82296"/>
          </a:xfrm>
          <a:prstGeom prst="ellipse">
            <a:avLst/>
          </a:prstGeom>
          <a:solidFill>
            <a:srgbClr val="43D5E8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971800"/>
            <a:ext cx="521208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 is never treated as permission.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41248" y="3627882"/>
            <a:ext cx="82296" cy="82296"/>
          </a:xfrm>
          <a:prstGeom prst="ellipse">
            <a:avLst/>
          </a:prstGeom>
          <a:solidFill>
            <a:srgbClr val="43D5E8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3554730"/>
            <a:ext cx="521208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material action is previewable and attributable.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41248" y="4210812"/>
            <a:ext cx="82296" cy="82296"/>
          </a:xfrm>
          <a:prstGeom prst="ellipse">
            <a:avLst/>
          </a:prstGeom>
          <a:solidFill>
            <a:srgbClr val="43D5E8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4137660"/>
            <a:ext cx="521208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failure is visible, classified, and receipted.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41248" y="4793742"/>
            <a:ext cx="82296" cy="82296"/>
          </a:xfrm>
          <a:prstGeom prst="ellipse">
            <a:avLst/>
          </a:prstGeom>
          <a:solidFill>
            <a:srgbClr val="43D5E8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4720590"/>
            <a:ext cx="521208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operator can stop, revoke, inspect, and replay safely.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629400" y="1664208"/>
            <a:ext cx="4754880" cy="4133088"/>
          </a:xfrm>
          <a:prstGeom prst="roundRect">
            <a:avLst>
              <a:gd name="adj" fmla="val 1770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95160" y="2029968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0F1823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23176" y="2157984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23176" y="2423160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· touch · terminal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995160" y="2944368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0F1823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23176" y="3072384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23176" y="3337560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 · risk · approval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995160" y="3858768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0F182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23176" y="3986784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23176" y="4251960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capability-bound worker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5160" y="4773168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0F1823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23176" y="4901184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23176" y="5166360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 + signed receipts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006840" y="2688336"/>
            <a:ext cx="0" cy="256032"/>
          </a:xfrm>
          <a:prstGeom prst="line">
            <a:avLst/>
          </a:prstGeom>
          <a:noFill/>
          <a:ln w="2540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006840" y="3602736"/>
            <a:ext cx="0" cy="256032"/>
          </a:xfrm>
          <a:prstGeom prst="line">
            <a:avLst/>
          </a:prstGeom>
          <a:noFill/>
          <a:ln w="2540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006840" y="4517136"/>
            <a:ext cx="0" cy="256032"/>
          </a:xfrm>
          <a:prstGeom prst="line">
            <a:avLst/>
          </a:prstGeom>
          <a:noFill/>
          <a:ln w="2540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The 30-second operator experience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voice request becomes a visible plan, explicit approval, bounded execution, and signed proof.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901952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0F1823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2029968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SPEAK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2376" y="2295144"/>
            <a:ext cx="16642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“Update DNS”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14600" y="2386584"/>
            <a:ext cx="292608" cy="0"/>
          </a:xfrm>
          <a:prstGeom prst="line">
            <a:avLst/>
          </a:prstGeom>
          <a:noFill/>
          <a:ln w="2286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62072" y="1901952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0F1823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0088" y="2029968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90088" y="2295144"/>
            <a:ext cx="16642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exact diff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82312" y="2386584"/>
            <a:ext cx="292608" cy="0"/>
          </a:xfrm>
          <a:prstGeom prst="line">
            <a:avLst/>
          </a:prstGeom>
          <a:noFill/>
          <a:ln w="2286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29784" y="1901952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0F1823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2029968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295144"/>
            <a:ext cx="16642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plan hash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050024" y="2386584"/>
            <a:ext cx="292608" cy="0"/>
          </a:xfrm>
          <a:prstGeom prst="line">
            <a:avLst/>
          </a:prstGeom>
          <a:noFill/>
          <a:ln w="2286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397496" y="1901952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0F182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25512" y="2029968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25512" y="2295144"/>
            <a:ext cx="16642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narrow capability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317736" y="2386584"/>
            <a:ext cx="292608" cy="0"/>
          </a:xfrm>
          <a:prstGeom prst="line">
            <a:avLst/>
          </a:prstGeom>
          <a:noFill/>
          <a:ln w="2286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65208" y="1901952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0F1823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93224" y="2029968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RECEIPT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793224" y="2295144"/>
            <a:ext cx="16642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 + evidence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13232" y="3401568"/>
            <a:ext cx="5349240" cy="1755648"/>
          </a:xfrm>
          <a:prstGeom prst="roundRect">
            <a:avLst>
              <a:gd name="adj" fmla="val 4167"/>
            </a:avLst>
          </a:prstGeom>
          <a:solidFill>
            <a:srgbClr val="0F1823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3401568"/>
            <a:ext cx="41148" cy="1755648"/>
          </a:xfrm>
          <a:prstGeom prst="rect">
            <a:avLst/>
          </a:prstGeom>
          <a:solidFill>
            <a:srgbClr val="43D5E8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" y="3639312"/>
            <a:ext cx="23774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OPERATOR EXPERIENCE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41832" y="3986784"/>
            <a:ext cx="47091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dangerous happens invisibly. The approval screen names the target, effect, rollback, and expiry.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55080" y="3401568"/>
            <a:ext cx="4892040" cy="1755648"/>
          </a:xfrm>
          <a:prstGeom prst="roundRect">
            <a:avLst>
              <a:gd name="adj" fmla="val 4167"/>
            </a:avLst>
          </a:prstGeom>
          <a:solidFill>
            <a:srgbClr val="0F1823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55080" y="3401568"/>
            <a:ext cx="41148" cy="1755648"/>
          </a:xfrm>
          <a:prstGeom prst="rect">
            <a:avLst/>
          </a:prstGeom>
          <a:solidFill>
            <a:srgbClr val="49D17D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3639312"/>
            <a:ext cx="2011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TRUTH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83680" y="3986784"/>
            <a:ext cx="42519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final receipt binds actor, plan, policy decision, worker result, timestamps, and evidence hashes.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224528" y="5577840"/>
            <a:ext cx="3767328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0" y="5646420"/>
            <a:ext cx="3621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STOP · REVOKE · INSPECT · RETRY SAFELY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Five acts. Fifty slides. One command spine.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upgraded deck moves from philosophy to enforceable architecture, then to operator experience and launch proof.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627632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801368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869948"/>
            <a:ext cx="356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91640" y="1792224"/>
            <a:ext cx="1417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0" y="1792224"/>
            <a:ext cx="7772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 Zero · boundaries · state machine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523744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2697480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2766060"/>
            <a:ext cx="356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91640" y="2688336"/>
            <a:ext cx="1417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688336"/>
            <a:ext cx="7772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 · policy · signatures · threat model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419856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3593592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3662172"/>
            <a:ext cx="356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91640" y="3584448"/>
            <a:ext cx="1417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91840" y="3584448"/>
            <a:ext cx="7772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accessibility · lexicon · operator surfaces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315968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4489704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3272" y="4558284"/>
            <a:ext cx="356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91640" y="4480560"/>
            <a:ext cx="1417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RUNTIME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4480560"/>
            <a:ext cx="7772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durability · observability · receipts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5212080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" y="5385816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3272" y="5454396"/>
            <a:ext cx="356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691640" y="5376672"/>
            <a:ext cx="1417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91840" y="5376672"/>
            <a:ext cx="7772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tests · rollout · 30/90-day roadmap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 ZERO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One command. One bounded plan. One terminal receipt.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slogan remains—but the engineering semantics are now precise.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744200" cy="1051560"/>
          </a:xfrm>
          <a:prstGeom prst="roundRect">
            <a:avLst>
              <a:gd name="adj" fmla="val 6957"/>
            </a:avLst>
          </a:prstGeom>
          <a:solidFill>
            <a:srgbClr val="0F1823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901952"/>
            <a:ext cx="102870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HUMAN-APPROVED COMMAND  →  ONE IMMUTABLE PLAN HASH  →  ONE TERMINAL RECEIPT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77240" y="2999232"/>
            <a:ext cx="3401568" cy="1965960"/>
          </a:xfrm>
          <a:prstGeom prst="roundRect">
            <a:avLst>
              <a:gd name="adj" fmla="val 3721"/>
            </a:avLst>
          </a:prstGeom>
          <a:solidFill>
            <a:srgbClr val="0B121B"/>
          </a:solidFill>
          <a:ln w="12700">
            <a:solidFill>
              <a:srgbClr val="43D5E8"/>
            </a:solidFill>
            <a:prstDash val="solid"/>
          </a:ln>
          <a:effectLst>
            <a:outerShdw sx="100000" sy="100000" kx="0" ky="0" algn="bl" rotWithShape="0" blurRad="241935000" dist="161290000" dir="162000000000">
              <a:srgbClr val="000000">
                <a:alpha val="28000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999232"/>
            <a:ext cx="41148" cy="1965960"/>
          </a:xfrm>
          <a:prstGeom prst="rect">
            <a:avLst/>
          </a:prstGeom>
          <a:solidFill>
            <a:srgbClr val="43D5E8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3310128"/>
            <a:ext cx="2743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COMMAND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33272" y="3794760"/>
            <a:ext cx="274320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Canonical intent + actor + resource scope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44568" y="2999232"/>
            <a:ext cx="3401568" cy="1965960"/>
          </a:xfrm>
          <a:prstGeom prst="roundRect">
            <a:avLst>
              <a:gd name="adj" fmla="val 3721"/>
            </a:avLst>
          </a:prstGeom>
          <a:solidFill>
            <a:srgbClr val="0B121B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3072574500000" dist="2048383000000" dir="9720000000000000">
              <a:srgbClr val="000000">
                <a:alpha val="2800000000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44568" y="2999232"/>
            <a:ext cx="41148" cy="1965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3310128"/>
            <a:ext cx="2743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00600" y="3794760"/>
            <a:ext cx="274320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Atomic steps, rollback, timeout, capability set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311896" y="2999232"/>
            <a:ext cx="3401568" cy="1965960"/>
          </a:xfrm>
          <a:prstGeom prst="roundRect">
            <a:avLst>
              <a:gd name="adj" fmla="val 3721"/>
            </a:avLst>
          </a:prstGeom>
          <a:solidFill>
            <a:srgbClr val="0B121B"/>
          </a:solidFill>
          <a:ln w="12700">
            <a:solidFill>
              <a:srgbClr val="49D17D"/>
            </a:solidFill>
            <a:prstDash val="solid"/>
          </a:ln>
          <a:effectLst>
            <a:outerShdw sx="100000" sy="100000" kx="0" ky="0" algn="bl" rotWithShape="0" blurRad="39021696150000000" dist="26014464100000000" dir="583200000000000000000">
              <a:srgbClr val="000000">
                <a:alpha val="280000000000000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11896" y="2999232"/>
            <a:ext cx="41148" cy="1965960"/>
          </a:xfrm>
          <a:prstGeom prst="rect">
            <a:avLst/>
          </a:prstGeom>
          <a:solidFill>
            <a:srgbClr val="49D17D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67928" y="3310128"/>
            <a:ext cx="2743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RECEIPT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67928" y="3794760"/>
            <a:ext cx="274320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Terminal status plus linked child receipts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847088" y="5440680"/>
            <a:ext cx="841248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20240" y="5509260"/>
            <a:ext cx="8266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CHILD STEPS MAY EMIT LINKED RECEIPTS · SILENT SIDE EFFECTS ARE FORBIDDEN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SCAN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What the upgrade corrects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original vision is preserved. Six production gaps are now resolved in the model.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49808" y="1627632"/>
            <a:ext cx="5166360" cy="1115568"/>
          </a:xfrm>
          <a:prstGeom prst="roundRect">
            <a:avLst>
              <a:gd name="adj" fmla="val 6557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627632"/>
            <a:ext cx="41148" cy="1115568"/>
          </a:xfrm>
          <a:prstGeom prst="rect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810512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 root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78608" y="1792224"/>
            <a:ext cx="30632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Passkey / hardware key—not GitHub alone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81928" y="1627632"/>
            <a:ext cx="5166360" cy="1115568"/>
          </a:xfrm>
          <a:prstGeom prst="roundRect">
            <a:avLst>
              <a:gd name="adj" fmla="val 6557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81928" y="1627632"/>
            <a:ext cx="41148" cy="1115568"/>
          </a:xfrm>
          <a:prstGeom prst="rect">
            <a:avLst/>
          </a:prstGeom>
          <a:solidFill>
            <a:srgbClr val="43D5E8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0528" y="1810512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Signing model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10728" y="1792224"/>
            <a:ext cx="30632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Ed25519 receipts; HMAC only for webhook authenticity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9808" y="3044952"/>
            <a:ext cx="5166360" cy="1115568"/>
          </a:xfrm>
          <a:prstGeom prst="roundRect">
            <a:avLst>
              <a:gd name="adj" fmla="val 6557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3044952"/>
            <a:ext cx="41148" cy="11155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3227832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78608" y="3209544"/>
            <a:ext cx="30632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request_id, trace_id, correlation_id separated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81928" y="3044952"/>
            <a:ext cx="5166360" cy="1115568"/>
          </a:xfrm>
          <a:prstGeom prst="roundRect">
            <a:avLst>
              <a:gd name="adj" fmla="val 6557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81928" y="3044952"/>
            <a:ext cx="41148" cy="1115568"/>
          </a:xfrm>
          <a:prstGeom prst="rect">
            <a:avLst/>
          </a:prstGeom>
          <a:solidFill>
            <a:srgbClr val="49D17D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0528" y="3227832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10728" y="3209544"/>
            <a:ext cx="30632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Explicit plan state machine + durable queue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49808" y="4462272"/>
            <a:ext cx="5166360" cy="1115568"/>
          </a:xfrm>
          <a:prstGeom prst="roundRect">
            <a:avLst>
              <a:gd name="adj" fmla="val 6557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" y="4462272"/>
            <a:ext cx="41148" cy="1115568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" y="4645152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78608" y="4626864"/>
            <a:ext cx="30632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engine + risk classes + approval token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81928" y="4462272"/>
            <a:ext cx="5166360" cy="1115568"/>
          </a:xfrm>
          <a:prstGeom prst="roundRect">
            <a:avLst>
              <a:gd name="adj" fmla="val 6557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81928" y="4462272"/>
            <a:ext cx="41148" cy="111556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0528" y="4645152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Truthfulness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10728" y="4626864"/>
            <a:ext cx="30632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“Built now / next / later” made visible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730752" y="5879592"/>
            <a:ext cx="475488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03904" y="5948172"/>
            <a:ext cx="4608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PHILOSOPHY → CONTRACT → POLICY → EVIDENCE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BOUNDARIES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Separation of powers is the safety architecture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interface, agent, connector, or model receives ambient authority.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0F1823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2093976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SURFACES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8096" y="2359152"/>
            <a:ext cx="166420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· Warp · Xcode · OSC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60320" y="2542032"/>
            <a:ext cx="246888" cy="0"/>
          </a:xfrm>
          <a:prstGeom prst="line">
            <a:avLst/>
          </a:prstGeom>
          <a:noFill/>
          <a:ln w="2032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80360" y="19659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0F1823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08376" y="2093976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MC96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08376" y="2359152"/>
            <a:ext cx="166420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Authenticate · authorize · plan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00600" y="2542032"/>
            <a:ext cx="246888" cy="0"/>
          </a:xfrm>
          <a:prstGeom prst="line">
            <a:avLst/>
          </a:prstGeom>
          <a:noFill/>
          <a:ln w="2032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20640" y="19659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0F1823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48656" y="2093976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48656" y="2359152"/>
            <a:ext cx="166420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· approval · capabilities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040880" y="2542032"/>
            <a:ext cx="246888" cy="0"/>
          </a:xfrm>
          <a:prstGeom prst="line">
            <a:avLst/>
          </a:prstGeom>
          <a:noFill/>
          <a:ln w="2032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360920" y="19659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0F182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88936" y="2093976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88936" y="2359152"/>
            <a:ext cx="166420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 one bounded action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281160" y="2542032"/>
            <a:ext cx="246888" cy="0"/>
          </a:xfrm>
          <a:prstGeom prst="line">
            <a:avLst/>
          </a:prstGeom>
          <a:noFill/>
          <a:ln w="2032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01200" y="19659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0F1823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29216" y="2093976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729216" y="2359152"/>
            <a:ext cx="166420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Receipt · evidence · audit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49808" y="3794760"/>
            <a:ext cx="10698480" cy="1353312"/>
          </a:xfrm>
          <a:prstGeom prst="roundRect">
            <a:avLst>
              <a:gd name="adj" fmla="val 5405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041648"/>
            <a:ext cx="1554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BOUNDARY RULE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68880" y="3931920"/>
            <a:ext cx="85496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MC96 may route and enforce policy, but domain logic lives in capability-specific workers. Models propose; policies decide; workers act; receipts prove.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057400" y="5577840"/>
            <a:ext cx="809244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30552" y="5646420"/>
            <a:ext cx="7946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PLATFORM USERNAME · NO BOT ROLE · NO MODEL OUTPUT IS AUTHORITY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Canonical actor: RSP_001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root is a human-owned, hardware-backed credential. Platforms federate into it; they do not define it.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0F1823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2185416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0976" y="2450592"/>
            <a:ext cx="248716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Passkey + hardware security key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709160" y="150876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0F1823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37176" y="1636776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CANONICAL ACTOR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37176" y="1901952"/>
            <a:ext cx="24871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RSP_001 · rsp@noizy.ai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09160" y="288036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0F1823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37176" y="3008376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ASSERTION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37176" y="3273552"/>
            <a:ext cx="24871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Cloudflare Access JWT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595360" y="205740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0F1823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23376" y="2185416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MC96 SESSION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23376" y="2450592"/>
            <a:ext cx="248716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short-lived · scoped · auditable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566160" y="2624328"/>
            <a:ext cx="1143000" cy="-630936"/>
          </a:xfrm>
          <a:prstGeom prst="line">
            <a:avLst/>
          </a:prstGeom>
          <a:noFill/>
          <a:ln w="25400">
            <a:solidFill>
              <a:srgbClr val="E4B85A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080760" y="2468880"/>
            <a:ext cx="0" cy="411480"/>
          </a:xfrm>
          <a:prstGeom prst="line">
            <a:avLst/>
          </a:prstGeom>
          <a:noFill/>
          <a:ln w="2032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52360" y="3355848"/>
            <a:ext cx="1143000" cy="-722376"/>
          </a:xfrm>
          <a:prstGeom prst="line">
            <a:avLst/>
          </a:prstGeom>
          <a:noFill/>
          <a:ln w="25400">
            <a:solidFill>
              <a:srgbClr val="49D17D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41248" y="4617720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4892040"/>
            <a:ext cx="98755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GitHub, Apple, Microsoft, Slack, Discord, and Warp are federated surfaces. Account compromise on a surface must not become root compromise.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Five proofs before execution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action earns authority step by step.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85216" y="1874520"/>
            <a:ext cx="1993392" cy="1874520"/>
          </a:xfrm>
          <a:prstGeom prst="roundRect">
            <a:avLst>
              <a:gd name="adj" fmla="val 3902"/>
            </a:avLst>
          </a:prstGeom>
          <a:solidFill>
            <a:srgbClr val="0F1823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98448" y="2084832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15341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2770632"/>
            <a:ext cx="166420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3163824"/>
            <a:ext cx="16642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is asking?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89504" y="1874520"/>
            <a:ext cx="1993392" cy="1874520"/>
          </a:xfrm>
          <a:prstGeom prst="roundRect">
            <a:avLst>
              <a:gd name="adj" fmla="val 3902"/>
            </a:avLst>
          </a:prstGeom>
          <a:solidFill>
            <a:srgbClr val="0F1823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02736" y="2084832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215341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54096" y="2770632"/>
            <a:ext cx="166420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54096" y="3163824"/>
            <a:ext cx="16642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exactly?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193792" y="1874520"/>
            <a:ext cx="1993392" cy="1874520"/>
          </a:xfrm>
          <a:prstGeom prst="roundRect">
            <a:avLst>
              <a:gd name="adj" fmla="val 3902"/>
            </a:avLst>
          </a:prstGeom>
          <a:solidFill>
            <a:srgbClr val="0F1823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07024" y="2084832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0176" y="215341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58384" y="2770632"/>
            <a:ext cx="166420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58384" y="3163824"/>
            <a:ext cx="16642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it allowed?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498080" y="1874520"/>
            <a:ext cx="1993392" cy="1874520"/>
          </a:xfrm>
          <a:prstGeom prst="roundRect">
            <a:avLst>
              <a:gd name="adj" fmla="val 3902"/>
            </a:avLst>
          </a:prstGeom>
          <a:solidFill>
            <a:srgbClr val="0F182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11312" y="2084832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84464" y="215341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62672" y="2770632"/>
            <a:ext cx="166420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62672" y="3163824"/>
            <a:ext cx="16642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 this plan accepted?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802368" y="1874520"/>
            <a:ext cx="1993392" cy="1874520"/>
          </a:xfrm>
          <a:prstGeom prst="roundRect">
            <a:avLst>
              <a:gd name="adj" fmla="val 3902"/>
            </a:avLst>
          </a:prstGeom>
          <a:solidFill>
            <a:srgbClr val="0F1823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15600" y="2084832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88752" y="215341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966960" y="2770632"/>
            <a:ext cx="166420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966960" y="3163824"/>
            <a:ext cx="16642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this worker do only that?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057400" y="4233672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E4B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5000" dirty="0"/>
          </a:p>
        </p:txBody>
      </p:sp>
      <p:sp>
        <p:nvSpPr>
          <p:cNvPr id="31" name="Text 29"/>
          <p:cNvSpPr/>
          <p:nvPr/>
        </p:nvSpPr>
        <p:spPr>
          <a:xfrm>
            <a:off x="2496312" y="4434840"/>
            <a:ext cx="7607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Trust is accumulated—not assumed.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System overview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command path is simple enough to explain, but strong enough to survive failure and attack.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0F1823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209397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SURFACES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2376" y="2359152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· Warp · Xcode · Hub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0" y="196596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0F1823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71216" y="209397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71216" y="2359152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· rate limit · schema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892040" y="196596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0F1823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0056" y="209397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MC96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0056" y="2359152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· policy · state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040880" y="196596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0F1823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68896" y="209397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QUEUE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68896" y="2359152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durable inbox · retry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189720" y="196596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0F182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17736" y="209397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17736" y="2359152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capability execution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40280" y="2468880"/>
            <a:ext cx="411480" cy="0"/>
          </a:xfrm>
          <a:prstGeom prst="line">
            <a:avLst/>
          </a:prstGeom>
          <a:noFill/>
          <a:ln w="2159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389120" y="2468880"/>
            <a:ext cx="411480" cy="0"/>
          </a:xfrm>
          <a:prstGeom prst="line">
            <a:avLst/>
          </a:prstGeom>
          <a:noFill/>
          <a:ln w="2159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537960" y="2468880"/>
            <a:ext cx="411480" cy="0"/>
          </a:xfrm>
          <a:prstGeom prst="line">
            <a:avLst/>
          </a:prstGeom>
          <a:noFill/>
          <a:ln w="2159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686800" y="2468880"/>
            <a:ext cx="411480" cy="0"/>
          </a:xfrm>
          <a:prstGeom prst="line">
            <a:avLst/>
          </a:prstGeom>
          <a:noFill/>
          <a:ln w="2159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840480" y="4041648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0F1823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68496" y="4169664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RECEIPT STORE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968496" y="4434840"/>
            <a:ext cx="1801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append-only + indexed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400800" y="4041648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0F1823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28816" y="4169664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 STREAM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28816" y="4434840"/>
            <a:ext cx="1801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 · alerts · analytics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715000" y="2971800"/>
            <a:ext cx="-841248" cy="1069848"/>
          </a:xfrm>
          <a:prstGeom prst="line">
            <a:avLst/>
          </a:prstGeom>
          <a:noFill/>
          <a:ln w="20320">
            <a:solidFill>
              <a:srgbClr val="49D17D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012680" y="2971800"/>
            <a:ext cx="-4114800" cy="1527048"/>
          </a:xfrm>
          <a:prstGeom prst="line">
            <a:avLst/>
          </a:prstGeom>
          <a:noFill/>
          <a:ln w="20320">
            <a:solidFill>
              <a:srgbClr val="49D17D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897880" y="4498848"/>
            <a:ext cx="502920" cy="0"/>
          </a:xfrm>
          <a:prstGeom prst="line">
            <a:avLst/>
          </a:prstGeom>
          <a:noFill/>
          <a:ln w="2032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651760" y="5577840"/>
            <a:ext cx="690372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24912" y="5646420"/>
            <a:ext cx="6757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LOCAL-FIRST CORE · CLOUDFLARE EDGE · REPLACEABLE CONNECTORS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Command state machine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state machine is the heart of deterministic, resumable execution.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96596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F1823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2034540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RECEIVED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28800" y="2121408"/>
            <a:ext cx="228600" cy="0"/>
          </a:xfrm>
          <a:prstGeom prst="line">
            <a:avLst/>
          </a:prstGeom>
          <a:noFill/>
          <a:ln w="1651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084832" y="196596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F1823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57984" y="2034540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8D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502152" y="2121408"/>
            <a:ext cx="228600" cy="0"/>
          </a:xfrm>
          <a:prstGeom prst="line">
            <a:avLst/>
          </a:prstGeom>
          <a:noFill/>
          <a:ln w="1651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758184" y="196596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F182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31336" y="2034540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175504" y="2121408"/>
            <a:ext cx="228600" cy="0"/>
          </a:xfrm>
          <a:prstGeom prst="line">
            <a:avLst/>
          </a:prstGeom>
          <a:noFill/>
          <a:ln w="1651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31536" y="196596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F1823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04688" y="2034540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AWAITING APPROVAL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848856" y="2121408"/>
            <a:ext cx="228600" cy="0"/>
          </a:xfrm>
          <a:prstGeom prst="line">
            <a:avLst/>
          </a:prstGeom>
          <a:noFill/>
          <a:ln w="1651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104888" y="196596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F1823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2034540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QUEUED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522208" y="2121408"/>
            <a:ext cx="228600" cy="0"/>
          </a:xfrm>
          <a:prstGeom prst="line">
            <a:avLst/>
          </a:prstGeom>
          <a:noFill/>
          <a:ln w="1651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778240" y="196596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F182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51392" y="2034540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RUNNING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0195560" y="2121408"/>
            <a:ext cx="228600" cy="0"/>
          </a:xfrm>
          <a:prstGeom prst="line">
            <a:avLst/>
          </a:prstGeom>
          <a:noFill/>
          <a:ln w="1651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451592" y="196596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F1823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24744" y="2034540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TERMINAL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31520" y="3063240"/>
            <a:ext cx="5257800" cy="2057400"/>
          </a:xfrm>
          <a:prstGeom prst="roundRect">
            <a:avLst>
              <a:gd name="adj" fmla="val 3556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8408" y="3337560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TERMINAL STATES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60120" y="3749040"/>
            <a:ext cx="82296" cy="82296"/>
          </a:xfrm>
          <a:prstGeom prst="ellipse">
            <a:avLst/>
          </a:prstGeom>
          <a:solidFill>
            <a:srgbClr val="49D17D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3000" y="3675888"/>
            <a:ext cx="228600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SUCCEEDED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60120" y="3994099"/>
            <a:ext cx="82296" cy="82296"/>
          </a:xfrm>
          <a:prstGeom prst="ellipse">
            <a:avLst/>
          </a:prstGeom>
          <a:solidFill>
            <a:srgbClr val="49D17D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43000" y="3920947"/>
            <a:ext cx="228600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FAILED_CLASSIFIED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60120" y="4239158"/>
            <a:ext cx="82296" cy="82296"/>
          </a:xfrm>
          <a:prstGeom prst="ellipse">
            <a:avLst/>
          </a:prstGeom>
          <a:solidFill>
            <a:srgbClr val="49D17D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43000" y="4166006"/>
            <a:ext cx="228600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CANCELLED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60120" y="4484218"/>
            <a:ext cx="82296" cy="82296"/>
          </a:xfrm>
          <a:prstGeom prst="ellipse">
            <a:avLst/>
          </a:prstGeom>
          <a:solidFill>
            <a:srgbClr val="49D17D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43000" y="4411066"/>
            <a:ext cx="228600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EXPIRED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60120" y="4729277"/>
            <a:ext cx="82296" cy="82296"/>
          </a:xfrm>
          <a:prstGeom prst="ellipse">
            <a:avLst/>
          </a:prstGeom>
          <a:solidFill>
            <a:srgbClr val="49D17D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43000" y="4656125"/>
            <a:ext cx="228600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DUPLICATE_NOOP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337560" y="3685032"/>
            <a:ext cx="22402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terminal state emits a final receipt. No job remains “mysteriously pending.”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263640" y="3063240"/>
            <a:ext cx="5166360" cy="2057400"/>
          </a:xfrm>
          <a:prstGeom prst="roundRect">
            <a:avLst>
              <a:gd name="adj" fmla="val 3556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10528" y="3337560"/>
            <a:ext cx="21031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TRANSITIONS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73952" y="3749040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56832" y="3675888"/>
            <a:ext cx="425196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approve(plan_hash)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73952" y="3994099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56832" y="3920947"/>
            <a:ext cx="425196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cancel(request_id)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73952" y="4239158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56832" y="4166006"/>
            <a:ext cx="425196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retry(failure_class)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73952" y="4484218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56832" y="4411066"/>
            <a:ext cx="425196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revoke(capability)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473952" y="4729277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56832" y="4656125"/>
            <a:ext cx="425196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expire(approval_token)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Command envelope v2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envelope carries enough context to validate, authorize, deduplicate, and trace—without carrying secrets.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77240" y="1572768"/>
            <a:ext cx="5074920" cy="4251960"/>
          </a:xfrm>
          <a:prstGeom prst="roundRect">
            <a:avLst>
              <a:gd name="adj" fmla="val 1720"/>
            </a:avLst>
          </a:prstGeom>
          <a:solidFill>
            <a:srgbClr val="0F1823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810512"/>
            <a:ext cx="2011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 + ROUTING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24128" y="2240280"/>
            <a:ext cx="187452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308860"/>
            <a:ext cx="1728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schema_version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090672" y="2313432"/>
            <a:ext cx="228600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 version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24128" y="2761488"/>
            <a:ext cx="187452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830068"/>
            <a:ext cx="1728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request_id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090672" y="2834640"/>
            <a:ext cx="228600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 ingress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24128" y="3282696"/>
            <a:ext cx="187452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351276"/>
            <a:ext cx="1728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trace_id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090672" y="3355848"/>
            <a:ext cx="228600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distributed trace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24128" y="3803904"/>
            <a:ext cx="187452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872484"/>
            <a:ext cx="1728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correlation_id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090672" y="3877056"/>
            <a:ext cx="228600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multi-command thread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24128" y="4325112"/>
            <a:ext cx="187452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393692"/>
            <a:ext cx="1728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idempotency_key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090672" y="4398264"/>
            <a:ext cx="228600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dedupe scope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24128" y="4846320"/>
            <a:ext cx="187452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4914900"/>
            <a:ext cx="1728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actor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090672" y="4919472"/>
            <a:ext cx="228600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canonical actor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7920" y="1572768"/>
            <a:ext cx="5074920" cy="4251960"/>
          </a:xfrm>
          <a:prstGeom prst="roundRect">
            <a:avLst>
              <a:gd name="adj" fmla="val 1720"/>
            </a:avLst>
          </a:prstGeom>
          <a:solidFill>
            <a:srgbClr val="0F182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64808" y="1810512"/>
            <a:ext cx="2011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 + SAFETY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64808" y="2148840"/>
            <a:ext cx="187452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2217420"/>
            <a:ext cx="1728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8531352" y="2221992"/>
            <a:ext cx="22860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/ terminal / API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6464808" y="2596896"/>
            <a:ext cx="187452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2665476"/>
            <a:ext cx="1728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command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8531352" y="2670048"/>
            <a:ext cx="22860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canonical verb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6464808" y="3044952"/>
            <a:ext cx="187452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3113532"/>
            <a:ext cx="1728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resource_scope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8531352" y="3118104"/>
            <a:ext cx="22860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bounded target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6464808" y="3493008"/>
            <a:ext cx="187452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3561588"/>
            <a:ext cx="1728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params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8531352" y="3566160"/>
            <a:ext cx="22860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validated payload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6464808" y="3941064"/>
            <a:ext cx="187452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37960" y="4009644"/>
            <a:ext cx="1728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risk_hint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8531352" y="4014216"/>
            <a:ext cx="22860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advisory only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6464808" y="4389120"/>
            <a:ext cx="187452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4457700"/>
            <a:ext cx="1728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requested_at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8531352" y="4462272"/>
            <a:ext cx="22860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anti-replay time</a:t>
            </a:r>
            <a:endParaRPr lang="en-US" sz="980" dirty="0"/>
          </a:p>
        </p:txBody>
      </p:sp>
      <p:sp>
        <p:nvSpPr>
          <p:cNvPr id="45" name="Shape 43"/>
          <p:cNvSpPr/>
          <p:nvPr/>
        </p:nvSpPr>
        <p:spPr>
          <a:xfrm>
            <a:off x="6464808" y="4837176"/>
            <a:ext cx="187452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37960" y="4905756"/>
            <a:ext cx="1728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expires_at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8531352" y="4910328"/>
            <a:ext cx="22860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 expiry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Receipt envelope v2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receipt records what the system believed, decided, attempted, observed, and proved.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10561320" cy="658368"/>
          </a:xfrm>
          <a:prstGeom prst="roundRect">
            <a:avLst>
              <a:gd name="adj" fmla="val 11111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508760"/>
            <a:ext cx="41148" cy="658368"/>
          </a:xfrm>
          <a:prstGeom prst="rect">
            <a:avLst/>
          </a:prstGeom>
          <a:solidFill>
            <a:srgbClr val="43D5E8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673352"/>
            <a:ext cx="1325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INGRESS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14600" y="1673352"/>
            <a:ext cx="6583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actor + source + signature check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46920" y="167335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20072" y="1741932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77240" y="2368296"/>
            <a:ext cx="10561320" cy="658368"/>
          </a:xfrm>
          <a:prstGeom prst="roundRect">
            <a:avLst>
              <a:gd name="adj" fmla="val 11111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368296"/>
            <a:ext cx="41148" cy="658368"/>
          </a:xfrm>
          <a:prstGeom prst="rect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2532888"/>
            <a:ext cx="1325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14600" y="2532888"/>
            <a:ext cx="6583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 set + decision + reason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46920" y="2532888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20072" y="2601468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77240" y="3227832"/>
            <a:ext cx="10561320" cy="658368"/>
          </a:xfrm>
          <a:prstGeom prst="roundRect">
            <a:avLst>
              <a:gd name="adj" fmla="val 11111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227832"/>
            <a:ext cx="41148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3392424"/>
            <a:ext cx="1325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14600" y="3392424"/>
            <a:ext cx="6583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hash + steps + rollback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46920" y="3392424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20072" y="3461004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77240" y="4087368"/>
            <a:ext cx="10561320" cy="658368"/>
          </a:xfrm>
          <a:prstGeom prst="roundRect">
            <a:avLst>
              <a:gd name="adj" fmla="val 11111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087368"/>
            <a:ext cx="41148" cy="658368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4128" y="4251960"/>
            <a:ext cx="1325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514600" y="4251960"/>
            <a:ext cx="6583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worker + result + evidence hashes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646920" y="4251960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20072" y="4320540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77240" y="4946904"/>
            <a:ext cx="10561320" cy="658368"/>
          </a:xfrm>
          <a:prstGeom prst="roundRect">
            <a:avLst>
              <a:gd name="adj" fmla="val 11111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4946904"/>
            <a:ext cx="41148" cy="658368"/>
          </a:xfrm>
          <a:prstGeom prst="rect">
            <a:avLst/>
          </a:prstGeom>
          <a:solidFill>
            <a:srgbClr val="49D17D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4128" y="5111496"/>
            <a:ext cx="1325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TERMINAL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514600" y="5111496"/>
            <a:ext cx="6583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+ timing + signature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646920" y="5111496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20072" y="5180076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880360" y="5907024"/>
            <a:ext cx="640080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53512" y="5975604"/>
            <a:ext cx="62544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SIGNATURE = Ed25519 over canonical receipt bytes + key_id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Request, trace, correlation, and idempotency are different things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Conflating them makes retries and multi-step workflows impossible to reason about.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1664208"/>
            <a:ext cx="10469880" cy="713232"/>
          </a:xfrm>
          <a:prstGeom prst="roundRect">
            <a:avLst>
              <a:gd name="adj" fmla="val 10256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" y="1856232"/>
            <a:ext cx="187452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" y="1924812"/>
            <a:ext cx="1728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request_id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46120" y="1847088"/>
            <a:ext cx="2926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ingress attempt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1847088"/>
            <a:ext cx="4297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changes on explicit retry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606040"/>
            <a:ext cx="10469880" cy="713232"/>
          </a:xfrm>
          <a:prstGeom prst="roundRect">
            <a:avLst>
              <a:gd name="adj" fmla="val 10256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" y="2798064"/>
            <a:ext cx="187452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33856" y="2866644"/>
            <a:ext cx="1728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8D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trace_id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46120" y="2788920"/>
            <a:ext cx="2926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distributed execution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2788920"/>
            <a:ext cx="4297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across child spans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547872"/>
            <a:ext cx="10469880" cy="713232"/>
          </a:xfrm>
          <a:prstGeom prst="roundRect">
            <a:avLst>
              <a:gd name="adj" fmla="val 10256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0704" y="3739896"/>
            <a:ext cx="187452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33856" y="3808476"/>
            <a:ext cx="1728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correlation_id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46120" y="3730752"/>
            <a:ext cx="2926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human intent thread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3730752"/>
            <a:ext cx="4297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links related commands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4489704"/>
            <a:ext cx="10469880" cy="713232"/>
          </a:xfrm>
          <a:prstGeom prst="roundRect">
            <a:avLst>
              <a:gd name="adj" fmla="val 10256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0704" y="4681728"/>
            <a:ext cx="187452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3856" y="4750308"/>
            <a:ext cx="1728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idempotency_key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46120" y="4672584"/>
            <a:ext cx="2926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intended side effect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4672584"/>
            <a:ext cx="4297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key = no duplicate effect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057400" y="5330952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E4B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5000" dirty="0"/>
          </a:p>
        </p:txBody>
      </p:sp>
      <p:sp>
        <p:nvSpPr>
          <p:cNvPr id="26" name="Text 24"/>
          <p:cNvSpPr/>
          <p:nvPr/>
        </p:nvSpPr>
        <p:spPr>
          <a:xfrm>
            <a:off x="2496312" y="5532120"/>
            <a:ext cx="7699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Retry the request. Never duplicate the effect.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The immutable execution plan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 binds to the plan hash—not to a vague command string.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6492240" cy="4343400"/>
          </a:xfrm>
          <a:prstGeom prst="roundRect">
            <a:avLst>
              <a:gd name="adj" fmla="val 1684"/>
            </a:avLst>
          </a:prstGeom>
          <a:solidFill>
            <a:srgbClr val="0F182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856232"/>
            <a:ext cx="5897880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plan_id: plan_01J…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plan_hash: sha256:…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command: dns.record.update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resource_scope: zone:noizy.ai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risk_class: R3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steps: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- capability: cloudflare.dns.write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target: api.noizy.ai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preview: A 192.0.2.10 → 198.51.100.8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timeout_ms: 10000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rollback: restore_previous_record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approval_ttl_s: 120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635240" y="1554480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09560" y="1847088"/>
            <a:ext cx="256032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 PROVES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909560" y="2404872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2331720"/>
            <a:ext cx="2651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exact target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09560" y="2871216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2440" y="2798064"/>
            <a:ext cx="2651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exact diff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09560" y="3337560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3264408"/>
            <a:ext cx="2651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risk class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09560" y="3803904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2440" y="3730752"/>
            <a:ext cx="2651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rollback path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909560" y="4270248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92440" y="4197096"/>
            <a:ext cx="2651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this expiry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01000" y="5166360"/>
            <a:ext cx="288036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74152" y="5234940"/>
            <a:ext cx="2734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MUTATION INVALIDATES APPROVAL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Four risk classes keep approval proportional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Low-friction for harmless work. Deliberate friction for irreversible work.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49808" y="1600200"/>
            <a:ext cx="10698480" cy="749808"/>
          </a:xfrm>
          <a:prstGeom prst="roundRect">
            <a:avLst>
              <a:gd name="adj" fmla="val 9756"/>
            </a:avLst>
          </a:prstGeom>
          <a:solidFill>
            <a:srgbClr val="0F1823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810512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8790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755648" y="1792224"/>
            <a:ext cx="1325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46120" y="1792224"/>
            <a:ext cx="3703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health, search, status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60920" y="1792224"/>
            <a:ext cx="3520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9808" y="2587752"/>
            <a:ext cx="10698480" cy="749808"/>
          </a:xfrm>
          <a:prstGeom prst="roundRect">
            <a:avLst>
              <a:gd name="adj" fmla="val 9756"/>
            </a:avLst>
          </a:prstGeom>
          <a:solidFill>
            <a:srgbClr val="0F1823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2798064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2866644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55648" y="2779776"/>
            <a:ext cx="1325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REVERSIBLE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46120" y="2779776"/>
            <a:ext cx="3703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app, create draft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60920" y="2779776"/>
            <a:ext cx="3520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preview optional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9808" y="3575304"/>
            <a:ext cx="10698480" cy="749808"/>
          </a:xfrm>
          <a:prstGeom prst="roundRect">
            <a:avLst>
              <a:gd name="adj" fmla="val 9756"/>
            </a:avLst>
          </a:prstGeom>
          <a:solidFill>
            <a:srgbClr val="0F1823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3785616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" y="3854196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755648" y="3767328"/>
            <a:ext cx="1325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46120" y="3767328"/>
            <a:ext cx="3703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staging, edit files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60920" y="3767328"/>
            <a:ext cx="3520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preview + confirm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9808" y="4562856"/>
            <a:ext cx="10698480" cy="749808"/>
          </a:xfrm>
          <a:prstGeom prst="roundRect">
            <a:avLst>
              <a:gd name="adj" fmla="val 9756"/>
            </a:avLst>
          </a:prstGeom>
          <a:solidFill>
            <a:srgbClr val="0F1823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" y="4773168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" y="4841748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755648" y="4754880"/>
            <a:ext cx="1325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46120" y="4754880"/>
            <a:ext cx="3703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DNS, money, production, delete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60920" y="4754880"/>
            <a:ext cx="3520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two-step approval + fresh auth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493008" y="5742432"/>
            <a:ext cx="516636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6160" y="5811012"/>
            <a:ext cx="5020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MAY SUGGEST RISK. POLICY ASSIGNS IT.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Policy-as-code—not personality-as-permission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 are versioned, testable, reviewable, and attached to every decision receipt.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49808" y="1572768"/>
            <a:ext cx="5303520" cy="4251960"/>
          </a:xfrm>
          <a:prstGeom prst="roundRect">
            <a:avLst>
              <a:gd name="adj" fmla="val 1720"/>
            </a:avLst>
          </a:prstGeom>
          <a:solidFill>
            <a:srgbClr val="0F1823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47088"/>
            <a:ext cx="19202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INPUT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05840" y="2359152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286000"/>
            <a:ext cx="42519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actor + role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2793492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720340"/>
            <a:ext cx="42519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command + resource scope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3227832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154680"/>
            <a:ext cx="42519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class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05840" y="3662172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589020"/>
            <a:ext cx="42519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 posture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05840" y="4096512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4023360"/>
            <a:ext cx="42519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/ network context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05840" y="4530852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4457700"/>
            <a:ext cx="42519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hash + evidence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55080" y="1572768"/>
            <a:ext cx="5074920" cy="4251960"/>
          </a:xfrm>
          <a:prstGeom prst="roundRect">
            <a:avLst>
              <a:gd name="adj" fmla="val 1720"/>
            </a:avLst>
          </a:prstGeom>
          <a:solidFill>
            <a:srgbClr val="0F1823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11112" y="1847088"/>
            <a:ext cx="2011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OUTPUT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11112" y="2359152"/>
            <a:ext cx="82296" cy="82296"/>
          </a:xfrm>
          <a:prstGeom prst="ellipse">
            <a:avLst/>
          </a:prstGeom>
          <a:solidFill>
            <a:srgbClr val="49D17D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93992" y="2286000"/>
            <a:ext cx="40690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611112" y="2793492"/>
            <a:ext cx="82296" cy="82296"/>
          </a:xfrm>
          <a:prstGeom prst="ellipse">
            <a:avLst/>
          </a:prstGeom>
          <a:solidFill>
            <a:srgbClr val="49D17D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93992" y="2720340"/>
            <a:ext cx="40690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11112" y="3227832"/>
            <a:ext cx="82296" cy="82296"/>
          </a:xfrm>
          <a:prstGeom prst="ellipse">
            <a:avLst/>
          </a:prstGeom>
          <a:solidFill>
            <a:srgbClr val="49D17D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93992" y="3154680"/>
            <a:ext cx="40690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PREVIEW_REQUIRED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611112" y="3662172"/>
            <a:ext cx="82296" cy="82296"/>
          </a:xfrm>
          <a:prstGeom prst="ellipse">
            <a:avLst/>
          </a:prstGeom>
          <a:solidFill>
            <a:srgbClr val="49D17D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93992" y="3589020"/>
            <a:ext cx="40690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FRESH_AUTH_REQUIRED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611112" y="4096512"/>
            <a:ext cx="82296" cy="82296"/>
          </a:xfrm>
          <a:prstGeom prst="ellipse">
            <a:avLst/>
          </a:prstGeom>
          <a:solidFill>
            <a:srgbClr val="49D17D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93992" y="4023360"/>
            <a:ext cx="40690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SECOND_APPROVER_REQUIRED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611112" y="4530852"/>
            <a:ext cx="82296" cy="82296"/>
          </a:xfrm>
          <a:prstGeom prst="ellipse">
            <a:avLst/>
          </a:prstGeom>
          <a:solidFill>
            <a:srgbClr val="49D17D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93992" y="4457700"/>
            <a:ext cx="40690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CAPABILITY_SET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355848" y="5916168"/>
            <a:ext cx="557784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29000" y="5984748"/>
            <a:ext cx="5431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v1: simple TypeScript rules · future: Cedar / OPA adapter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Approval is a signed, expiring capability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approval artifact can be verified without trusting the UI that displayed it.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0F1823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2002536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05256" y="2267712"/>
            <a:ext cx="2029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render diff + risk + rollback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749040" y="187452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0F1823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77056" y="2002536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APPROVAL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77056" y="2267712"/>
            <a:ext cx="2029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fresh auth where required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720840" y="187452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0F182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48856" y="2002536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 TOKEN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48856" y="2267712"/>
            <a:ext cx="2029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plan_hash · actor · TTL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692640" y="1874520"/>
            <a:ext cx="1691640" cy="1097280"/>
          </a:xfrm>
          <a:prstGeom prst="roundRect">
            <a:avLst>
              <a:gd name="adj" fmla="val 6667"/>
            </a:avLst>
          </a:prstGeom>
          <a:solidFill>
            <a:srgbClr val="0F1823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20656" y="2002536"/>
            <a:ext cx="1435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820656" y="2267712"/>
            <a:ext cx="1435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verifies token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063240" y="2423160"/>
            <a:ext cx="685800" cy="0"/>
          </a:xfrm>
          <a:prstGeom prst="line">
            <a:avLst/>
          </a:prstGeom>
          <a:noFill/>
          <a:ln w="2540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035040" y="2423160"/>
            <a:ext cx="685800" cy="0"/>
          </a:xfrm>
          <a:prstGeom prst="line">
            <a:avLst/>
          </a:prstGeom>
          <a:noFill/>
          <a:ln w="2540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06840" y="2423160"/>
            <a:ext cx="685800" cy="0"/>
          </a:xfrm>
          <a:prstGeom prst="line">
            <a:avLst/>
          </a:prstGeom>
          <a:noFill/>
          <a:ln w="2540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0120" y="3749040"/>
            <a:ext cx="10241280" cy="1325880"/>
          </a:xfrm>
          <a:prstGeom prst="roundRect">
            <a:avLst>
              <a:gd name="adj" fmla="val 5517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4014216"/>
            <a:ext cx="1371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CLAIMS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06040" y="3968496"/>
            <a:ext cx="80924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approval_id · actor · plan_hash · resource_scope · issued_at · expires_at · auth_strength · policy_version · signature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794760" y="5486400"/>
            <a:ext cx="470916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67912" y="5554980"/>
            <a:ext cx="45628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EXPIRED OR MISMATCHED PLAN = HARD DENY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INGRESS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Defence in depth at every entry point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Rejected commands still produce security receipts—without leaking sensitive details.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874520"/>
            <a:ext cx="1965960" cy="2148840"/>
          </a:xfrm>
          <a:prstGeom prst="roundRect">
            <a:avLst>
              <a:gd name="adj" fmla="val 3721"/>
            </a:avLst>
          </a:prstGeom>
          <a:solidFill>
            <a:srgbClr val="0F1823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16736" y="2121408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89888" y="2189988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8D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86384" y="2852928"/>
            <a:ext cx="162763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8D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3246120"/>
            <a:ext cx="16002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Cloudflare Access · WAF · rate limit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07792" y="1874520"/>
            <a:ext cx="1965960" cy="2148840"/>
          </a:xfrm>
          <a:prstGeom prst="roundRect">
            <a:avLst>
              <a:gd name="adj" fmla="val 3721"/>
            </a:avLst>
          </a:prstGeom>
          <a:solidFill>
            <a:srgbClr val="0F1823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02736" y="2121408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2189988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72384" y="2852928"/>
            <a:ext cx="162763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90672" y="3246120"/>
            <a:ext cx="16002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· timestamp · nonce · signature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193792" y="1874520"/>
            <a:ext cx="1965960" cy="2148840"/>
          </a:xfrm>
          <a:prstGeom prst="roundRect">
            <a:avLst>
              <a:gd name="adj" fmla="val 3721"/>
            </a:avLst>
          </a:prstGeom>
          <a:solidFill>
            <a:srgbClr val="0F1823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88736" y="2121408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61888" y="2189988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58384" y="2852928"/>
            <a:ext cx="162763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76672" y="3246120"/>
            <a:ext cx="16002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canonical identity · role · session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479792" y="1874520"/>
            <a:ext cx="1965960" cy="2148840"/>
          </a:xfrm>
          <a:prstGeom prst="roundRect">
            <a:avLst>
              <a:gd name="adj" fmla="val 3721"/>
            </a:avLst>
          </a:prstGeom>
          <a:solidFill>
            <a:srgbClr val="0F1823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74736" y="2121408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47888" y="2189988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44384" y="2852928"/>
            <a:ext cx="162763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62672" y="3246120"/>
            <a:ext cx="16002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· resource · context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765792" y="1874520"/>
            <a:ext cx="1965960" cy="2148840"/>
          </a:xfrm>
          <a:prstGeom prst="roundRect">
            <a:avLst>
              <a:gd name="adj" fmla="val 3721"/>
            </a:avLst>
          </a:prstGeom>
          <a:solidFill>
            <a:srgbClr val="0F1823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460736" y="2121408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33888" y="2189988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930384" y="2852928"/>
            <a:ext cx="162763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948672" y="3246120"/>
            <a:ext cx="16002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dedupe · expiry · transition guard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417320" y="4617720"/>
            <a:ext cx="9326880" cy="841248"/>
          </a:xfrm>
          <a:prstGeom prst="roundRect">
            <a:avLst>
              <a:gd name="adj" fmla="val 8696"/>
            </a:avLst>
          </a:prstGeom>
          <a:solidFill>
            <a:srgbClr val="0F1823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91640" y="4882896"/>
            <a:ext cx="8778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Rejected requests receive a minimal receipt: request_id, reason class, policy version, timestamp, and trace reference.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REPLAY DEFENCE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 request is valid only inside a narrow, verifiable window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Replay protection is more than caching request_id.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77240" y="1572768"/>
            <a:ext cx="3657600" cy="4251960"/>
          </a:xfrm>
          <a:prstGeom prst="roundRect">
            <a:avLst>
              <a:gd name="adj" fmla="val 2000"/>
            </a:avLst>
          </a:prstGeom>
          <a:solidFill>
            <a:srgbClr val="0F1823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847088"/>
            <a:ext cx="2011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SIGNED REQUEST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51560" y="2340864"/>
            <a:ext cx="82296" cy="82296"/>
          </a:xfrm>
          <a:prstGeom prst="ellipse">
            <a:avLst/>
          </a:prstGeom>
          <a:solidFill>
            <a:srgbClr val="43D5E8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267712"/>
            <a:ext cx="269748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canonical body bytes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51560" y="2744724"/>
            <a:ext cx="82296" cy="82296"/>
          </a:xfrm>
          <a:prstGeom prst="ellipse">
            <a:avLst/>
          </a:prstGeom>
          <a:solidFill>
            <a:srgbClr val="43D5E8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2671572"/>
            <a:ext cx="269748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timestamp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51560" y="3148584"/>
            <a:ext cx="82296" cy="82296"/>
          </a:xfrm>
          <a:prstGeom prst="ellipse">
            <a:avLst/>
          </a:prstGeom>
          <a:solidFill>
            <a:srgbClr val="43D5E8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3075432"/>
            <a:ext cx="269748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51560" y="3552444"/>
            <a:ext cx="82296" cy="82296"/>
          </a:xfrm>
          <a:prstGeom prst="ellipse">
            <a:avLst/>
          </a:prstGeom>
          <a:solidFill>
            <a:srgbClr val="43D5E8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3479292"/>
            <a:ext cx="269748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key_id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51560" y="3956304"/>
            <a:ext cx="82296" cy="82296"/>
          </a:xfrm>
          <a:prstGeom prst="ellipse">
            <a:avLst/>
          </a:prstGeom>
          <a:solidFill>
            <a:srgbClr val="43D5E8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3883152"/>
            <a:ext cx="269748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hash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51560" y="4360164"/>
            <a:ext cx="82296" cy="82296"/>
          </a:xfrm>
          <a:prstGeom prst="ellipse">
            <a:avLst/>
          </a:prstGeom>
          <a:solidFill>
            <a:srgbClr val="43D5E8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4287012"/>
            <a:ext cx="269748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signature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53712" y="1572768"/>
            <a:ext cx="3063240" cy="4251960"/>
          </a:xfrm>
          <a:prstGeom prst="roundRect">
            <a:avLst>
              <a:gd name="adj" fmla="val 2388"/>
            </a:avLst>
          </a:prstGeom>
          <a:solidFill>
            <a:srgbClr val="0F1823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1847088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 CHECKS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0600" y="2340864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267712"/>
            <a:ext cx="21488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clock skew ≤ 60s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800600" y="2825496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752344"/>
            <a:ext cx="21488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nonce unseen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800600" y="3310128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236976"/>
            <a:ext cx="21488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active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800600" y="3794760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721608"/>
            <a:ext cx="21488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unchanged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4800600" y="4279392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4206240"/>
            <a:ext cx="21488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 unexpired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7744968" y="1572768"/>
            <a:ext cx="3657600" cy="4251960"/>
          </a:xfrm>
          <a:prstGeom prst="roundRect">
            <a:avLst>
              <a:gd name="adj" fmla="val 2000"/>
            </a:avLst>
          </a:prstGeom>
          <a:solidFill>
            <a:srgbClr val="0F1823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19288" y="1847088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DEDUPE SCOPE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019288" y="2331720"/>
            <a:ext cx="30175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UNIQUE(actor, command, resource_scope, idempotency_key)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275320" y="3977640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48472" y="4046220"/>
            <a:ext cx="2414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 → NOOP + linked receipt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Separate keys by purpose and blast radius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compromised integration must not forge approvals or receipts.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86384" y="1508760"/>
            <a:ext cx="10561320" cy="658368"/>
          </a:xfrm>
          <a:prstGeom prst="roundRect">
            <a:avLst>
              <a:gd name="adj" fmla="val 11111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673352"/>
            <a:ext cx="1371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0" y="1673352"/>
            <a:ext cx="2926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passkey / security key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06440" y="1673352"/>
            <a:ext cx="43891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authentication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195560" y="1673352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68712" y="1741932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rotate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86384" y="2404872"/>
            <a:ext cx="10561320" cy="658368"/>
          </a:xfrm>
          <a:prstGeom prst="roundRect">
            <a:avLst>
              <a:gd name="adj" fmla="val 11111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2569464"/>
            <a:ext cx="1371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WEBHOOK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2569464"/>
            <a:ext cx="2926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HMAC secret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06440" y="2569464"/>
            <a:ext cx="43891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authenticity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195560" y="2569464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68712" y="2638044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rotate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86384" y="3300984"/>
            <a:ext cx="10561320" cy="658368"/>
          </a:xfrm>
          <a:prstGeom prst="roundRect">
            <a:avLst>
              <a:gd name="adj" fmla="val 11111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3465576"/>
            <a:ext cx="1371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0320" y="3465576"/>
            <a:ext cx="2926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Ed25519 private key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06440" y="3465576"/>
            <a:ext cx="43891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 approval tokens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195560" y="346557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68712" y="3534156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rotate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86384" y="4197096"/>
            <a:ext cx="10561320" cy="658368"/>
          </a:xfrm>
          <a:prstGeom prst="roundRect">
            <a:avLst>
              <a:gd name="adj" fmla="val 11111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" y="4361688"/>
            <a:ext cx="1371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RECEIPT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60320" y="4361688"/>
            <a:ext cx="2926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Ed25519 private key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06440" y="4361688"/>
            <a:ext cx="43891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 terminal receipts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195560" y="4361688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68712" y="4430268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rotate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86384" y="5093208"/>
            <a:ext cx="10561320" cy="658368"/>
          </a:xfrm>
          <a:prstGeom prst="roundRect">
            <a:avLst>
              <a:gd name="adj" fmla="val 11111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4128" y="5257800"/>
            <a:ext cx="1371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8D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ENCRYPTION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560320" y="5257800"/>
            <a:ext cx="2926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Keychain / secret store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806440" y="5257800"/>
            <a:ext cx="43891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 OAuth + service tokens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195560" y="5257800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68712" y="5326380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8D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rotate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920240" y="5879592"/>
            <a:ext cx="832104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93392" y="5948172"/>
            <a:ext cx="8174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DUAL-KEY VERIFICATION WINDOW · OLD KEY VERIFY-ONLY · AUDITED REVOCATION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Design for the failures that actually matter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assumes compromised surfaces, ambiguous speech, stolen tokens, worker crashes, and operator fatigue.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572768"/>
            <a:ext cx="5257800" cy="1005840"/>
          </a:xfrm>
          <a:prstGeom prst="roundRect">
            <a:avLst>
              <a:gd name="adj" fmla="val 7273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72768"/>
            <a:ext cx="41148" cy="1005840"/>
          </a:xfrm>
          <a:prstGeom prst="rect">
            <a:avLst/>
          </a:prstGeom>
          <a:solidFill>
            <a:srgbClr val="43D5E8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755648"/>
            <a:ext cx="21945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/ intent injection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73552" y="1755648"/>
            <a:ext cx="2331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strict command grammar + policy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572768"/>
            <a:ext cx="5257800" cy="1005840"/>
          </a:xfrm>
          <a:prstGeom prst="roundRect">
            <a:avLst>
              <a:gd name="adj" fmla="val 7273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572768"/>
            <a:ext cx="41148" cy="1005840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755648"/>
            <a:ext cx="21945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8D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Stolen OAuth token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851392" y="1755648"/>
            <a:ext cx="2331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isolated connector + minimum scopes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2880360"/>
            <a:ext cx="5257800" cy="1005840"/>
          </a:xfrm>
          <a:prstGeom prst="roundRect">
            <a:avLst>
              <a:gd name="adj" fmla="val 7273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880360"/>
            <a:ext cx="41148" cy="1005840"/>
          </a:xfrm>
          <a:prstGeom prst="rect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063240"/>
            <a:ext cx="21945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Replay / duplicate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73552" y="3063240"/>
            <a:ext cx="2331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nonce + expiry + idempotency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2880360"/>
            <a:ext cx="5257800" cy="1005840"/>
          </a:xfrm>
          <a:prstGeom prst="roundRect">
            <a:avLst>
              <a:gd name="adj" fmla="val 7273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2880360"/>
            <a:ext cx="41148" cy="10058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063240"/>
            <a:ext cx="21945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Worker compromise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51392" y="3063240"/>
            <a:ext cx="2331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capability sandbox + no ambient secrets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1520" y="4187952"/>
            <a:ext cx="5257800" cy="1005840"/>
          </a:xfrm>
          <a:prstGeom prst="roundRect">
            <a:avLst>
              <a:gd name="adj" fmla="val 7273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187952"/>
            <a:ext cx="41148" cy="1005840"/>
          </a:xfrm>
          <a:prstGeom prst="rect">
            <a:avLst/>
          </a:prstGeom>
          <a:solidFill>
            <a:srgbClr val="49D17D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370832"/>
            <a:ext cx="21945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 tampering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73552" y="4370832"/>
            <a:ext cx="2331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hash chain + external anchor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09360" y="4187952"/>
            <a:ext cx="5257800" cy="1005840"/>
          </a:xfrm>
          <a:prstGeom prst="roundRect">
            <a:avLst>
              <a:gd name="adj" fmla="val 7273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4187952"/>
            <a:ext cx="41148" cy="10058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4370832"/>
            <a:ext cx="21945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Fatigue / misclick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851392" y="4370832"/>
            <a:ext cx="2331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preview + short approvals + undo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749040" y="5705856"/>
            <a:ext cx="461772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22192" y="5774436"/>
            <a:ext cx="4471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 MODEL REVIEW IS A RELEASE GATE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6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320040"/>
            <a:ext cx="3520440" cy="3520440"/>
          </a:xfrm>
          <a:prstGeom prst="ellipse">
            <a:avLst/>
          </a:prstGeom>
          <a:solidFill>
            <a:srgbClr val="A78BFA">
              <a:alpha val="12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42832" y="896112"/>
            <a:ext cx="2377440" cy="2377440"/>
          </a:xfrm>
          <a:prstGeom prst="ellipse">
            <a:avLst/>
          </a:prstGeom>
          <a:solidFill>
            <a:srgbClr val="A78BFA">
              <a:alpha val="8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49808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78B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VOICE-FIRST CONTROL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7223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Accessibility is not an add-on. It is the operator architecture.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13232" y="624535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6575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DREAMCHAMBER / MC96 · SOVEREIGN COMMAND OS v2.0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875520" y="61813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GORUNFREE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PATH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Local-first voice pipeline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Audio becomes text locally; text becomes a command only after deterministic parsing and policy.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F1823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204825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2376" y="2313432"/>
            <a:ext cx="15727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U87 · iPhone · iPad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852928" y="192024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F1823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80944" y="204825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TRANSCRIBE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80944" y="2313432"/>
            <a:ext cx="15727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whisper.cpp / MacWhisper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111496" y="192024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F182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39512" y="204825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39512" y="2313432"/>
            <a:ext cx="15727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strict lexicon + slots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70064" y="192024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F1823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204825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PREVIEW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8080" y="2313432"/>
            <a:ext cx="15727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human-readable plan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628632" y="192024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F1823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56648" y="204825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756648" y="2313432"/>
            <a:ext cx="15727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+ fresh auth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423160" y="2404872"/>
            <a:ext cx="356616" cy="0"/>
          </a:xfrm>
          <a:prstGeom prst="line">
            <a:avLst/>
          </a:prstGeom>
          <a:noFill/>
          <a:ln w="2032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681728" y="2404872"/>
            <a:ext cx="356616" cy="0"/>
          </a:xfrm>
          <a:prstGeom prst="line">
            <a:avLst/>
          </a:prstGeom>
          <a:noFill/>
          <a:ln w="2032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940296" y="2404872"/>
            <a:ext cx="356616" cy="0"/>
          </a:xfrm>
          <a:prstGeom prst="line">
            <a:avLst/>
          </a:prstGeom>
          <a:noFill/>
          <a:ln w="2032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198864" y="2404872"/>
            <a:ext cx="356616" cy="0"/>
          </a:xfrm>
          <a:prstGeom prst="line">
            <a:avLst/>
          </a:prstGeom>
          <a:noFill/>
          <a:ln w="2032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51560" y="3657600"/>
            <a:ext cx="10058400" cy="1234440"/>
          </a:xfrm>
          <a:prstGeom prst="roundRect">
            <a:avLst>
              <a:gd name="adj" fmla="val 5926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25880" y="3913632"/>
            <a:ext cx="1554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 DEFAULT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88920" y="3822192"/>
            <a:ext cx="77724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audio is ephemeral unless the operator explicitly saves it. The command envelope stores the normalized intent, transcript excerpt, confidence, and model/version—not an endless microphone archive.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090672" y="5486400"/>
            <a:ext cx="603504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63824" y="5554980"/>
            <a:ext cx="5888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IS AN INPUT SURFACE · NEVER A PERMISSION BYPASS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Three voice confidence zones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 changes the interaction—not the authorization policy.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3364992" cy="2606040"/>
          </a:xfrm>
          <a:prstGeom prst="roundRect">
            <a:avLst>
              <a:gd name="adj" fmla="val 2807"/>
            </a:avLst>
          </a:prstGeom>
          <a:solidFill>
            <a:srgbClr val="0F1823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39696"/>
            <a:ext cx="1463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34640" y="2084832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07792" y="215341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≥ 0.90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2852928"/>
            <a:ext cx="27889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Parse + show preview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685032"/>
            <a:ext cx="2788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still gate by risk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1874520"/>
            <a:ext cx="3364992" cy="2606040"/>
          </a:xfrm>
          <a:prstGeom prst="roundRect">
            <a:avLst>
              <a:gd name="adj" fmla="val 2807"/>
            </a:avLst>
          </a:prstGeom>
          <a:solidFill>
            <a:srgbClr val="0F1823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139696"/>
            <a:ext cx="1463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583680" y="2084832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56832" y="215341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0.72–0.89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0" y="2852928"/>
            <a:ext cx="27889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one clarifying question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3685032"/>
            <a:ext cx="2788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guess target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75320" y="1874520"/>
            <a:ext cx="3364992" cy="2606040"/>
          </a:xfrm>
          <a:prstGeom prst="roundRect">
            <a:avLst>
              <a:gd name="adj" fmla="val 2807"/>
            </a:avLst>
          </a:prstGeom>
          <a:solidFill>
            <a:srgbClr val="0F1823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2139696"/>
            <a:ext cx="1463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332720" y="2084832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05872" y="215341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 0.72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03920" y="2852928"/>
            <a:ext cx="27889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as note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03920" y="3685032"/>
            <a:ext cx="2788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action path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65960" y="4965192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5000" dirty="0"/>
          </a:p>
        </p:txBody>
      </p:sp>
      <p:sp>
        <p:nvSpPr>
          <p:cNvPr id="24" name="Text 22"/>
          <p:cNvSpPr/>
          <p:nvPr/>
        </p:nvSpPr>
        <p:spPr>
          <a:xfrm>
            <a:off x="2404872" y="5166360"/>
            <a:ext cx="7790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Low confidence becomes a note—not a mistake.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LEXICON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Canonical verbs, bounded nouns, explicit slots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 language can be generous. Execution language must be narrow.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49808" y="1554480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0F1823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828800"/>
            <a:ext cx="2011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PHRASES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24128" y="2359152"/>
            <a:ext cx="82296" cy="82296"/>
          </a:xfrm>
          <a:prstGeom prst="ellipse">
            <a:avLst/>
          </a:prstGeom>
          <a:solidFill>
            <a:srgbClr val="43D5E8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7008" y="22860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“Put the site back.”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24128" y="2880360"/>
            <a:ext cx="82296" cy="82296"/>
          </a:xfrm>
          <a:prstGeom prst="ellipse">
            <a:avLst/>
          </a:prstGeom>
          <a:solidFill>
            <a:srgbClr val="43D5E8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28072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“Start the room.”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24128" y="3401568"/>
            <a:ext cx="82296" cy="82296"/>
          </a:xfrm>
          <a:prstGeom prst="ellipse">
            <a:avLst/>
          </a:prstGeom>
          <a:solidFill>
            <a:srgbClr val="43D5E8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07008" y="332841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“Send this to Shirl.”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24128" y="3922776"/>
            <a:ext cx="82296" cy="82296"/>
          </a:xfrm>
          <a:prstGeom prst="ellipse">
            <a:avLst/>
          </a:prstGeom>
          <a:solidFill>
            <a:srgbClr val="43D5E8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384962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“Good morning, team.”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24128" y="4443984"/>
            <a:ext cx="82296" cy="82296"/>
          </a:xfrm>
          <a:prstGeom prst="ellipse">
            <a:avLst/>
          </a:prstGeom>
          <a:solidFill>
            <a:srgbClr val="43D5E8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437083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“Stop everything.”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82512" y="155448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0F182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56832" y="1828800"/>
            <a:ext cx="2194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CANONICAL COMMANDS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56832" y="2267712"/>
            <a:ext cx="406908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9984" y="2336292"/>
            <a:ext cx="3922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dns.route.restore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656832" y="2798064"/>
            <a:ext cx="406908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9984" y="2866644"/>
            <a:ext cx="3922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studio.session.start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656832" y="3328416"/>
            <a:ext cx="406908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9984" y="3396996"/>
            <a:ext cx="3922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agent.task.assign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656832" y="3858768"/>
            <a:ext cx="406908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9984" y="3927348"/>
            <a:ext cx="3922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mesh.wake.authorized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656832" y="4389120"/>
            <a:ext cx="406908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9984" y="4457700"/>
            <a:ext cx="3922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system.emergency_stop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803904" y="5925312"/>
            <a:ext cx="457200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77056" y="5993892"/>
            <a:ext cx="4425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UNKNOWN PHRASE → NOTE / SEARCH / CLARIFY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The operator control plane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critical action has voice, touch, keyboard, and remote equivalents—without different security semantics.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057400" cy="2103120"/>
          </a:xfrm>
          <a:prstGeom prst="roundRect">
            <a:avLst>
              <a:gd name="adj" fmla="val 3556"/>
            </a:avLst>
          </a:prstGeom>
          <a:solidFill>
            <a:srgbClr val="0F1823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2103120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4088" y="2743200"/>
            <a:ext cx="16459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Siri / Voice Control / Whisper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86968" y="3547872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616452"/>
            <a:ext cx="11338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envelope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834640" y="1828800"/>
            <a:ext cx="2057400" cy="2103120"/>
          </a:xfrm>
          <a:prstGeom prst="roundRect">
            <a:avLst>
              <a:gd name="adj" fmla="val 3556"/>
            </a:avLst>
          </a:prstGeom>
          <a:solidFill>
            <a:srgbClr val="0F182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9232" y="2103120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35808" y="2743200"/>
            <a:ext cx="16459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Lucy iPad · OSC / PWA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18688" y="3547872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3616452"/>
            <a:ext cx="11338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envelope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166360" y="1828800"/>
            <a:ext cx="2057400" cy="2103120"/>
          </a:xfrm>
          <a:prstGeom prst="roundRect">
            <a:avLst>
              <a:gd name="adj" fmla="val 3556"/>
            </a:avLst>
          </a:prstGeom>
          <a:solidFill>
            <a:srgbClr val="0F1823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30952" y="2103120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67528" y="2743200"/>
            <a:ext cx="16459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Warp · shell · Claude Code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50408" y="3547872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3616452"/>
            <a:ext cx="11338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envelope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498080" y="1828800"/>
            <a:ext cx="2057400" cy="2103120"/>
          </a:xfrm>
          <a:prstGeom prst="roundRect">
            <a:avLst>
              <a:gd name="adj" fmla="val 3556"/>
            </a:avLst>
          </a:prstGeom>
          <a:solidFill>
            <a:srgbClr val="0F1823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62672" y="2103120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8D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COCKPIT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99248" y="2743200"/>
            <a:ext cx="16459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Xcode / SwiftUI native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882128" y="3547872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0" y="3616452"/>
            <a:ext cx="11338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8D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envelope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9829800" y="1828800"/>
            <a:ext cx="2057400" cy="2103120"/>
          </a:xfrm>
          <a:prstGeom prst="roundRect">
            <a:avLst>
              <a:gd name="adj" fmla="val 3556"/>
            </a:avLst>
          </a:prstGeom>
          <a:solidFill>
            <a:srgbClr val="0F1823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94392" y="2103120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30968" y="2743200"/>
            <a:ext cx="16459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Tailscale · RustDesk / Parsec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213848" y="3547872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87000" y="3616452"/>
            <a:ext cx="11338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envelope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325880" y="4663440"/>
            <a:ext cx="9509760" cy="841248"/>
          </a:xfrm>
          <a:prstGeom prst="roundRect">
            <a:avLst>
              <a:gd name="adj" fmla="val 8696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00200" y="4937760"/>
            <a:ext cx="8961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interface may change. The command contract, policy decision, and receipt semantics do not.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Warp Terminal conversation integration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supplied conversation ID becomes a provenance pointer and operator-session context—not an authority token.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49808" y="1554480"/>
            <a:ext cx="10716768" cy="1051560"/>
          </a:xfrm>
          <a:prstGeom prst="roundRect">
            <a:avLst>
              <a:gd name="adj" fmla="val 6957"/>
            </a:avLst>
          </a:prstGeom>
          <a:solidFill>
            <a:srgbClr val="0F1823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865376"/>
            <a:ext cx="101041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4B85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da451646-2e73-486c-9bf0-d9f4de7a88b9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154680"/>
            <a:ext cx="2514600" cy="1115568"/>
          </a:xfrm>
          <a:prstGeom prst="roundRect">
            <a:avLst>
              <a:gd name="adj" fmla="val 6557"/>
            </a:avLst>
          </a:prstGeom>
          <a:solidFill>
            <a:srgbClr val="0F1823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3282696"/>
            <a:ext cx="2258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6384" y="3547872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Authenticated Warp API / user export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72968" y="3712464"/>
            <a:ext cx="256032" cy="0"/>
          </a:xfrm>
          <a:prstGeom prst="line">
            <a:avLst/>
          </a:prstGeom>
          <a:noFill/>
          <a:ln w="1905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93008" y="3154680"/>
            <a:ext cx="2514600" cy="1115568"/>
          </a:xfrm>
          <a:prstGeom prst="roundRect">
            <a:avLst>
              <a:gd name="adj" fmla="val 6557"/>
            </a:avLst>
          </a:prstGeom>
          <a:solidFill>
            <a:srgbClr val="0F1823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1024" y="3282696"/>
            <a:ext cx="2258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21024" y="3547872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messages → session context artifact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07608" y="3712464"/>
            <a:ext cx="256032" cy="0"/>
          </a:xfrm>
          <a:prstGeom prst="line">
            <a:avLst/>
          </a:prstGeom>
          <a:noFill/>
          <a:ln w="1905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27648" y="3154680"/>
            <a:ext cx="2514600" cy="1115568"/>
          </a:xfrm>
          <a:prstGeom prst="roundRect">
            <a:avLst>
              <a:gd name="adj" fmla="val 6557"/>
            </a:avLst>
          </a:prstGeom>
          <a:solidFill>
            <a:srgbClr val="0F182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5664" y="3282696"/>
            <a:ext cx="2258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55664" y="3547872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hash + retrieval timestamp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842248" y="3712464"/>
            <a:ext cx="256032" cy="0"/>
          </a:xfrm>
          <a:prstGeom prst="line">
            <a:avLst/>
          </a:prstGeom>
          <a:noFill/>
          <a:ln w="1905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62288" y="3154680"/>
            <a:ext cx="2514600" cy="1115568"/>
          </a:xfrm>
          <a:prstGeom prst="roundRect">
            <a:avLst>
              <a:gd name="adj" fmla="val 6557"/>
            </a:avLst>
          </a:prstGeom>
          <a:solidFill>
            <a:srgbClr val="0F1823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90304" y="3282696"/>
            <a:ext cx="2258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290304" y="3547872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source_context[] in plan receipt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371600" y="4956048"/>
            <a:ext cx="9418320" cy="822960"/>
          </a:xfrm>
          <a:prstGeom prst="roundRect">
            <a:avLst>
              <a:gd name="adj" fmla="val 8889"/>
            </a:avLst>
          </a:prstGeom>
          <a:solidFill>
            <a:srgbClr val="0F1823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64208" y="5193792"/>
            <a:ext cx="88239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 ID alone does not expose the transcript. Retrieval must use the operator’s authenticated Warp access or an exported transcript.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SURFACES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Every interface calls one command contract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custom side doors for Slack, Discord, Shortcuts, Warp, Xcode, or agents.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F1823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485900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SHORTCUTS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240280" y="1572768"/>
            <a:ext cx="1691640" cy="1929384"/>
          </a:xfrm>
          <a:prstGeom prst="line">
            <a:avLst/>
          </a:prstGeom>
          <a:noFill/>
          <a:ln w="1397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22960" y="2130552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F1823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199132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40280" y="2286000"/>
            <a:ext cx="1691640" cy="1216152"/>
          </a:xfrm>
          <a:prstGeom prst="line">
            <a:avLst/>
          </a:prstGeom>
          <a:noFill/>
          <a:ln w="1397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22960" y="2843784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F1823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912364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8D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XCODE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40280" y="2999232"/>
            <a:ext cx="1691640" cy="502920"/>
          </a:xfrm>
          <a:prstGeom prst="line">
            <a:avLst/>
          </a:prstGeom>
          <a:noFill/>
          <a:ln w="1397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22960" y="3557016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F182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625596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SLACK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40280" y="3712464"/>
            <a:ext cx="1691640" cy="-210312"/>
          </a:xfrm>
          <a:prstGeom prst="line">
            <a:avLst/>
          </a:prstGeom>
          <a:noFill/>
          <a:ln w="1397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22960" y="427024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F1823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338828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40280" y="4425696"/>
            <a:ext cx="1691640" cy="-923544"/>
          </a:xfrm>
          <a:prstGeom prst="line">
            <a:avLst/>
          </a:prstGeom>
          <a:noFill/>
          <a:ln w="1397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2960" y="498348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F1823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5052060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240280" y="5138928"/>
            <a:ext cx="1691640" cy="-1636776"/>
          </a:xfrm>
          <a:prstGeom prst="line">
            <a:avLst/>
          </a:prstGeom>
          <a:noFill/>
          <a:ln w="1397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931920" y="2377440"/>
            <a:ext cx="3017520" cy="1965960"/>
          </a:xfrm>
          <a:prstGeom prst="roundRect">
            <a:avLst>
              <a:gd name="adj" fmla="val 3721"/>
            </a:avLst>
          </a:prstGeom>
          <a:solidFill>
            <a:srgbClr val="0F1823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59936" y="2505456"/>
            <a:ext cx="276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MC96 COMMAND API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059936" y="2770632"/>
            <a:ext cx="276148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· auth · policy · state · receipt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949440" y="3337560"/>
            <a:ext cx="1325880" cy="-1033272"/>
          </a:xfrm>
          <a:prstGeom prst="line">
            <a:avLst/>
          </a:prstGeom>
          <a:noFill/>
          <a:ln w="1651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275320" y="18288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F1823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03336" y="1956816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PREVIEW UI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03336" y="2221992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decision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949440" y="3337560"/>
            <a:ext cx="1325880" cy="64008"/>
          </a:xfrm>
          <a:prstGeom prst="line">
            <a:avLst/>
          </a:prstGeom>
          <a:noFill/>
          <a:ln w="1651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275320" y="292608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F182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03336" y="3054096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WORKER QUEUE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03336" y="3319272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durable execution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949440" y="3337560"/>
            <a:ext cx="1325880" cy="1161288"/>
          </a:xfrm>
          <a:prstGeom prst="line">
            <a:avLst/>
          </a:prstGeom>
          <a:noFill/>
          <a:ln w="1651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275320" y="402336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F1823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03336" y="4151376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RECEIPT STREAM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403336" y="4416552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read-only events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154680" y="5669280"/>
            <a:ext cx="585216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27832" y="5737860"/>
            <a:ext cx="57058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API · ONE SCHEMA REGISTRY · ONE POLICY PATH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CONNECTORS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Replaceable connector contract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Connectors translate platform APIs. They never become identity authority or policy engines.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6400800" cy="4343400"/>
          </a:xfrm>
          <a:prstGeom prst="roundRect">
            <a:avLst>
              <a:gd name="adj" fmla="val 1684"/>
            </a:avLst>
          </a:prstGeom>
          <a:solidFill>
            <a:srgbClr val="0F1823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856232"/>
            <a:ext cx="5806440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interface Connector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id: string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capabilities(): Capability[]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preview(plan): PreviewResult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execute(plan, approval): WorkerResult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rollback?(receipt): WorkerResult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health(): HealthStatus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no direct UI callbacks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no ambient root token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all results return through MC96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79792" y="1554480"/>
            <a:ext cx="3840480" cy="4343400"/>
          </a:xfrm>
          <a:prstGeom prst="roundRect">
            <a:avLst>
              <a:gd name="adj" fmla="val 1905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54112" y="1847088"/>
            <a:ext cx="2743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 BEHAVIOUR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54112" y="2404872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36992" y="2331720"/>
            <a:ext cx="2788920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minimal scopes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54112" y="2854452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36992" y="2781300"/>
            <a:ext cx="2788920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secret isolation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54112" y="3304032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36992" y="3230880"/>
            <a:ext cx="2788920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timeouts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54112" y="3753612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36992" y="3680460"/>
            <a:ext cx="2788920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typed errors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54112" y="4203192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36992" y="4130040"/>
            <a:ext cx="2788920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hashes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54112" y="4652772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36992" y="4579620"/>
            <a:ext cx="2788920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rollback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Streaming is a controlled domain—not the core OS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MC96 coordinates session state; OBS, Audio Hijack, SonoBus, and DAWs remain specialist engines.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38912" y="1901952"/>
            <a:ext cx="1664208" cy="1078992"/>
          </a:xfrm>
          <a:prstGeom prst="roundRect">
            <a:avLst>
              <a:gd name="adj" fmla="val 6780"/>
            </a:avLst>
          </a:prstGeom>
          <a:solidFill>
            <a:srgbClr val="0F1823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202996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2295144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profiles + routes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103120" y="2450592"/>
            <a:ext cx="192024" cy="0"/>
          </a:xfrm>
          <a:prstGeom prst="line">
            <a:avLst/>
          </a:prstGeom>
          <a:noFill/>
          <a:ln w="1651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59152" y="1901952"/>
            <a:ext cx="1664208" cy="1078992"/>
          </a:xfrm>
          <a:prstGeom prst="roundRect">
            <a:avLst>
              <a:gd name="adj" fmla="val 6780"/>
            </a:avLst>
          </a:prstGeom>
          <a:solidFill>
            <a:srgbClr val="0F1823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87168" y="202996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PREVIEW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87168" y="2295144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devices + destinations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023360" y="2450592"/>
            <a:ext cx="192024" cy="0"/>
          </a:xfrm>
          <a:prstGeom prst="line">
            <a:avLst/>
          </a:prstGeom>
          <a:noFill/>
          <a:ln w="1651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79392" y="1901952"/>
            <a:ext cx="1664208" cy="1078992"/>
          </a:xfrm>
          <a:prstGeom prst="roundRect">
            <a:avLst>
              <a:gd name="adj" fmla="val 6780"/>
            </a:avLst>
          </a:prstGeom>
          <a:solidFill>
            <a:srgbClr val="0F1823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7408" y="202996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07408" y="2295144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plan hash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43600" y="2450592"/>
            <a:ext cx="192024" cy="0"/>
          </a:xfrm>
          <a:prstGeom prst="line">
            <a:avLst/>
          </a:prstGeom>
          <a:noFill/>
          <a:ln w="1651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99632" y="1901952"/>
            <a:ext cx="1664208" cy="1078992"/>
          </a:xfrm>
          <a:prstGeom prst="roundRect">
            <a:avLst>
              <a:gd name="adj" fmla="val 6780"/>
            </a:avLst>
          </a:prstGeom>
          <a:solidFill>
            <a:srgbClr val="0F182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202996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27648" y="2295144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 / AH / SonoBus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863840" y="2450592"/>
            <a:ext cx="192024" cy="0"/>
          </a:xfrm>
          <a:prstGeom prst="line">
            <a:avLst/>
          </a:prstGeom>
          <a:noFill/>
          <a:ln w="1651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119872" y="1901952"/>
            <a:ext cx="1664208" cy="1078992"/>
          </a:xfrm>
          <a:prstGeom prst="roundRect">
            <a:avLst>
              <a:gd name="adj" fmla="val 6780"/>
            </a:avLst>
          </a:prstGeom>
          <a:solidFill>
            <a:srgbClr val="0F1823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47888" y="202996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47888" y="2295144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 + latency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784080" y="2450592"/>
            <a:ext cx="192024" cy="0"/>
          </a:xfrm>
          <a:prstGeom prst="line">
            <a:avLst/>
          </a:prstGeom>
          <a:noFill/>
          <a:ln w="1651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040112" y="1901952"/>
            <a:ext cx="1664208" cy="1078992"/>
          </a:xfrm>
          <a:prstGeom prst="roundRect">
            <a:avLst>
              <a:gd name="adj" fmla="val 6780"/>
            </a:avLst>
          </a:prstGeom>
          <a:solidFill>
            <a:srgbClr val="0F1823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68128" y="202996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168128" y="2295144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 + final receipt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22960" y="3794760"/>
            <a:ext cx="10469880" cy="1298448"/>
          </a:xfrm>
          <a:prstGeom prst="roundRect">
            <a:avLst>
              <a:gd name="adj" fmla="val 5634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4059936"/>
            <a:ext cx="1645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RECEIPT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0" y="3986784"/>
            <a:ext cx="79552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profile · devices · routes · destinations · start/stop time · dropped frames · audio health · connector versions · errors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Audio / DAW orchestration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command OS coordinates creative machinery without entering the audio path.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0F1823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002536"/>
            <a:ext cx="1618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MICKY-P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6384" y="2267712"/>
            <a:ext cx="1618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U87 · Apollo · capture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971800" y="187452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0F1823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99816" y="2002536"/>
            <a:ext cx="1618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NOIZYNET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99816" y="2267712"/>
            <a:ext cx="1618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SonoBus / Loopback / BlackHole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285232" y="187452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0F1823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13248" y="2002536"/>
            <a:ext cx="1618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13248" y="2267712"/>
            <a:ext cx="1618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Logic Pro · M2 Ultra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598664" y="187452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0F182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26680" y="2002536"/>
            <a:ext cx="1618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26680" y="2267712"/>
            <a:ext cx="1618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state + routing intent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912096" y="187452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0F1823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40112" y="2002536"/>
            <a:ext cx="1344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40112" y="2267712"/>
            <a:ext cx="13441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 + route receipts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32888" y="2423160"/>
            <a:ext cx="365760" cy="0"/>
          </a:xfrm>
          <a:prstGeom prst="line">
            <a:avLst/>
          </a:prstGeom>
          <a:noFill/>
          <a:ln w="1905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846320" y="2423160"/>
            <a:ext cx="365760" cy="0"/>
          </a:xfrm>
          <a:prstGeom prst="line">
            <a:avLst/>
          </a:prstGeom>
          <a:noFill/>
          <a:ln w="1905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159752" y="2423160"/>
            <a:ext cx="365760" cy="0"/>
          </a:xfrm>
          <a:prstGeom prst="line">
            <a:avLst/>
          </a:prstGeom>
          <a:noFill/>
          <a:ln w="1905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473184" y="2423160"/>
            <a:ext cx="365760" cy="0"/>
          </a:xfrm>
          <a:prstGeom prst="line">
            <a:avLst/>
          </a:prstGeom>
          <a:noFill/>
          <a:ln w="1905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14400" y="3767328"/>
            <a:ext cx="10332720" cy="1371600"/>
          </a:xfrm>
          <a:prstGeom prst="roundRect">
            <a:avLst>
              <a:gd name="adj" fmla="val 5333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70432" y="4041648"/>
            <a:ext cx="1554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NON-NEGOTIABLE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61488" y="3931920"/>
            <a:ext cx="79095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MC96 never inserts processing into the low-latency audio stream. It configures, starts, verifies, and stops external engines—then records the state.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Deployment topology: GOD, MICKY-P, Cloudflare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execution near the hardware; keep the edge narrow; keep proof replicated.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3401568" cy="4279392"/>
          </a:xfrm>
          <a:prstGeom prst="roundRect">
            <a:avLst>
              <a:gd name="adj" fmla="val 2151"/>
            </a:avLst>
          </a:prstGeom>
          <a:solidFill>
            <a:srgbClr val="0F1823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847088"/>
            <a:ext cx="26517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GOD · M2 ULTRA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32688" y="2377440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304288"/>
            <a:ext cx="242316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mc96d core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32688" y="2819400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746248"/>
            <a:ext cx="242316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+ plan store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32688" y="3261360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3188208"/>
            <a:ext cx="242316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Whisper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32688" y="3703320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3630168"/>
            <a:ext cx="242316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DreamChamber workers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32688" y="4145280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4072128"/>
            <a:ext cx="242316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MC96 Hub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32688" y="4587240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4514088"/>
            <a:ext cx="242316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receipt log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389120" y="1572768"/>
            <a:ext cx="3401568" cy="4279392"/>
          </a:xfrm>
          <a:prstGeom prst="roundRect">
            <a:avLst>
              <a:gd name="adj" fmla="val 2151"/>
            </a:avLst>
          </a:prstGeom>
          <a:solidFill>
            <a:srgbClr val="0F1823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847088"/>
            <a:ext cx="26517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MICKY-P · CAPTURE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2377440"/>
            <a:ext cx="82296" cy="82296"/>
          </a:xfrm>
          <a:prstGeom prst="ellipse">
            <a:avLst/>
          </a:prstGeom>
          <a:solidFill>
            <a:srgbClr val="43D5E8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304288"/>
            <a:ext cx="242316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/ audio capture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663440" y="2819400"/>
            <a:ext cx="82296" cy="82296"/>
          </a:xfrm>
          <a:prstGeom prst="ellipse">
            <a:avLst/>
          </a:prstGeom>
          <a:solidFill>
            <a:srgbClr val="43D5E8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746248"/>
            <a:ext cx="242316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connector worker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663440" y="3261360"/>
            <a:ext cx="82296" cy="82296"/>
          </a:xfrm>
          <a:prstGeom prst="ellipse">
            <a:avLst/>
          </a:prstGeom>
          <a:solidFill>
            <a:srgbClr val="43D5E8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188208"/>
            <a:ext cx="242316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 probe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663440" y="3703320"/>
            <a:ext cx="82296" cy="82296"/>
          </a:xfrm>
          <a:prstGeom prst="ellipse">
            <a:avLst/>
          </a:prstGeom>
          <a:solidFill>
            <a:srgbClr val="43D5E8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630168"/>
            <a:ext cx="242316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buffered handoff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4663440" y="4145280"/>
            <a:ext cx="82296" cy="82296"/>
          </a:xfrm>
          <a:prstGeom prst="ellipse">
            <a:avLst/>
          </a:prstGeom>
          <a:solidFill>
            <a:srgbClr val="43D5E8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4072128"/>
            <a:ext cx="242316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root secrets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4663440" y="4587240"/>
            <a:ext cx="82296" cy="82296"/>
          </a:xfrm>
          <a:prstGeom prst="ellipse">
            <a:avLst/>
          </a:prstGeom>
          <a:solidFill>
            <a:srgbClr val="43D5E8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4514088"/>
            <a:ext cx="242316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offline-safe queue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8119872" y="1572768"/>
            <a:ext cx="3401568" cy="4279392"/>
          </a:xfrm>
          <a:prstGeom prst="roundRect">
            <a:avLst>
              <a:gd name="adj" fmla="val 2151"/>
            </a:avLst>
          </a:prstGeom>
          <a:solidFill>
            <a:srgbClr val="0F1823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94192" y="1847088"/>
            <a:ext cx="26517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8D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CLOUDFLARE · EDGE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394192" y="2377440"/>
            <a:ext cx="82296" cy="82296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77072" y="2304288"/>
            <a:ext cx="242316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+ device policy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8394192" y="2819400"/>
            <a:ext cx="82296" cy="82296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77072" y="2746248"/>
            <a:ext cx="242316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webhooks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8394192" y="3261360"/>
            <a:ext cx="82296" cy="82296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77072" y="3188208"/>
            <a:ext cx="242316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 limiting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8394192" y="3703320"/>
            <a:ext cx="82296" cy="82296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77072" y="3630168"/>
            <a:ext cx="242316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Workers gateway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8394192" y="4145280"/>
            <a:ext cx="82296" cy="82296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77072" y="4072128"/>
            <a:ext cx="242316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D1 / R2 replica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8394192" y="4587240"/>
            <a:ext cx="82296" cy="82296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77072" y="4514088"/>
            <a:ext cx="242316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hash anchor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Durable execution without platform sprawl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transactional inbox and supervised worker are enough for v1. No Kafka. No mystery.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0F1823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1956816"/>
            <a:ext cx="170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INGRESS TX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3816" y="2221992"/>
            <a:ext cx="17099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command + initial receipt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063240" y="182880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0F1823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91256" y="1956816"/>
            <a:ext cx="170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INBOX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91256" y="2221992"/>
            <a:ext cx="17099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 WAL / Durable Object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40680" y="182880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0F182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68696" y="1956816"/>
            <a:ext cx="170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68696" y="2221992"/>
            <a:ext cx="17099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lease · heartbeat · timeout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818120" y="182880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0F1823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6136" y="1956816"/>
            <a:ext cx="170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OUTBOX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46136" y="2221992"/>
            <a:ext cx="17099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 + events atomically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0195560" y="1828800"/>
            <a:ext cx="1325880" cy="1051560"/>
          </a:xfrm>
          <a:prstGeom prst="roundRect">
            <a:avLst>
              <a:gd name="adj" fmla="val 6957"/>
            </a:avLst>
          </a:prstGeom>
          <a:solidFill>
            <a:srgbClr val="0F1823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23576" y="1956816"/>
            <a:ext cx="1069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FANOUT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323576" y="2221992"/>
            <a:ext cx="10698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 / alerts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651760" y="2359152"/>
            <a:ext cx="338328" cy="0"/>
          </a:xfrm>
          <a:prstGeom prst="line">
            <a:avLst/>
          </a:prstGeom>
          <a:noFill/>
          <a:ln w="1905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029200" y="2359152"/>
            <a:ext cx="338328" cy="0"/>
          </a:xfrm>
          <a:prstGeom prst="line">
            <a:avLst/>
          </a:prstGeom>
          <a:noFill/>
          <a:ln w="1905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06640" y="2359152"/>
            <a:ext cx="338328" cy="0"/>
          </a:xfrm>
          <a:prstGeom prst="line">
            <a:avLst/>
          </a:prstGeom>
          <a:noFill/>
          <a:ln w="1905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784080" y="2359152"/>
            <a:ext cx="338328" cy="0"/>
          </a:xfrm>
          <a:prstGeom prst="line">
            <a:avLst/>
          </a:prstGeom>
          <a:noFill/>
          <a:ln w="1905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60120" y="3703320"/>
            <a:ext cx="10241280" cy="1444752"/>
          </a:xfrm>
          <a:prstGeom prst="roundRect">
            <a:avLst>
              <a:gd name="adj" fmla="val 5063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4440" y="3977640"/>
            <a:ext cx="1645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RECOVERY RULES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926080" y="3913632"/>
            <a:ext cx="7726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Expired lease → requeue · terminal receipt already exists → no-op · transient error → bounded retry · permanent error → dead-letter + operator alert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 CONSISTENCY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Transactional outbox prevents “action happened, receipt vanished”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change and receipt publication must succeed or fail together.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77240" y="1664208"/>
            <a:ext cx="4937760" cy="3977640"/>
          </a:xfrm>
          <a:prstGeom prst="roundRect">
            <a:avLst>
              <a:gd name="adj" fmla="val 1839"/>
            </a:avLst>
          </a:prstGeom>
          <a:solidFill>
            <a:srgbClr val="0F1823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938528"/>
            <a:ext cx="2194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BROKEN PATTERN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2423160"/>
            <a:ext cx="1828800" cy="841248"/>
          </a:xfrm>
          <a:prstGeom prst="roundRect">
            <a:avLst>
              <a:gd name="adj" fmla="val 8696"/>
            </a:avLst>
          </a:prstGeom>
          <a:solidFill>
            <a:srgbClr val="0F182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25296" y="255117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25296" y="281635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side effect succeeds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429000" y="2423160"/>
            <a:ext cx="1828800" cy="841248"/>
          </a:xfrm>
          <a:prstGeom prst="roundRect">
            <a:avLst>
              <a:gd name="adj" fmla="val 8696"/>
            </a:avLst>
          </a:prstGeom>
          <a:solidFill>
            <a:srgbClr val="0F1823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57016" y="255117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57016" y="281635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fails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926080" y="2843784"/>
            <a:ext cx="502920" cy="0"/>
          </a:xfrm>
          <a:prstGeom prst="line">
            <a:avLst/>
          </a:prstGeom>
          <a:noFill/>
          <a:ln w="22860">
            <a:solidFill>
              <a:srgbClr val="FF6B6B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188720" y="3977640"/>
            <a:ext cx="4069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Result: the world changed, but the audit stream did not.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99632" y="1664208"/>
            <a:ext cx="5074920" cy="3977640"/>
          </a:xfrm>
          <a:prstGeom prst="roundRect">
            <a:avLst>
              <a:gd name="adj" fmla="val 1839"/>
            </a:avLst>
          </a:prstGeom>
          <a:solidFill>
            <a:srgbClr val="0F1823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1938528"/>
            <a:ext cx="2286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OUTBOX PATTERN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19672" y="2423160"/>
            <a:ext cx="1874520" cy="841248"/>
          </a:xfrm>
          <a:prstGeom prst="roundRect">
            <a:avLst>
              <a:gd name="adj" fmla="val 8696"/>
            </a:avLst>
          </a:prstGeom>
          <a:solidFill>
            <a:srgbClr val="0F1823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47688" y="2551176"/>
            <a:ext cx="1618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TX COMMIT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47688" y="2816352"/>
            <a:ext cx="161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+ receipt + event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942832" y="2423160"/>
            <a:ext cx="1874520" cy="841248"/>
          </a:xfrm>
          <a:prstGeom prst="roundRect">
            <a:avLst>
              <a:gd name="adj" fmla="val 8696"/>
            </a:avLst>
          </a:prstGeom>
          <a:solidFill>
            <a:srgbClr val="0F1823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70848" y="2551176"/>
            <a:ext cx="1618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070848" y="2816352"/>
            <a:ext cx="161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retries until delivered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394192" y="2843784"/>
            <a:ext cx="548640" cy="0"/>
          </a:xfrm>
          <a:prstGeom prst="line">
            <a:avLst/>
          </a:prstGeom>
          <a:noFill/>
          <a:ln w="22860">
            <a:solidFill>
              <a:srgbClr val="49D17D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6583680" y="3977640"/>
            <a:ext cx="41605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Result: evidence is durable even when fanout is temporarily unavailable.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Failure taxonomy turns panic into procedure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class has a retry rule, operator message, and receipt payload.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49808" y="1417320"/>
            <a:ext cx="10716768" cy="566928"/>
          </a:xfrm>
          <a:prstGeom prst="roundRect">
            <a:avLst>
              <a:gd name="adj" fmla="val 12903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572768"/>
            <a:ext cx="2423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474720" y="1572768"/>
            <a:ext cx="28346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retry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583680" y="1572768"/>
            <a:ext cx="4297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 command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9808" y="2167128"/>
            <a:ext cx="10716768" cy="566928"/>
          </a:xfrm>
          <a:prstGeom prst="roundRect">
            <a:avLst>
              <a:gd name="adj" fmla="val 12903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322576"/>
            <a:ext cx="2423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 / POLICY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74720" y="2322576"/>
            <a:ext cx="28346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retry automatically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83680" y="2322576"/>
            <a:ext cx="4297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reauth or change scope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9808" y="2916936"/>
            <a:ext cx="10716768" cy="566928"/>
          </a:xfrm>
          <a:prstGeom prst="roundRect">
            <a:avLst>
              <a:gd name="adj" fmla="val 12903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072384"/>
            <a:ext cx="2423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B8D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DEPENDENCY_TRANSIENT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74720" y="3072384"/>
            <a:ext cx="28346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bounded exponential backoff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83680" y="3072384"/>
            <a:ext cx="4297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9808" y="3666744"/>
            <a:ext cx="10716768" cy="566928"/>
          </a:xfrm>
          <a:prstGeom prst="roundRect">
            <a:avLst>
              <a:gd name="adj" fmla="val 12903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822192"/>
            <a:ext cx="2423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DEPENDENCY_PERMANENT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74720" y="3822192"/>
            <a:ext cx="28346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dead-letter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83680" y="3822192"/>
            <a:ext cx="4297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repair connector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49808" y="4416552"/>
            <a:ext cx="10716768" cy="566928"/>
          </a:xfrm>
          <a:prstGeom prst="roundRect">
            <a:avLst>
              <a:gd name="adj" fmla="val 12903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572000"/>
            <a:ext cx="2423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TIMEOUT_UNKNOWN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74720" y="4572000"/>
            <a:ext cx="28346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reconcile before retry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83680" y="4572000"/>
            <a:ext cx="4297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 target state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49808" y="5166360"/>
            <a:ext cx="10716768" cy="566928"/>
          </a:xfrm>
          <a:prstGeom prst="roundRect">
            <a:avLst>
              <a:gd name="adj" fmla="val 12903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5321808"/>
            <a:ext cx="2423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ROLLBACK_FAILED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74720" y="5321808"/>
            <a:ext cx="28346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alert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583680" y="5321808"/>
            <a:ext cx="4297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recovery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886200" y="5925312"/>
            <a:ext cx="448056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59352" y="5993892"/>
            <a:ext cx="4334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UNKNOWN OUTCOME ≠ SAFE TO RETRY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6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320040"/>
            <a:ext cx="3520440" cy="3520440"/>
          </a:xfrm>
          <a:prstGeom prst="ellipse">
            <a:avLst/>
          </a:prstGeom>
          <a:solidFill>
            <a:srgbClr val="49D17D">
              <a:alpha val="12000"/>
            </a:srgbClr>
          </a:solidFill>
          <a:ln w="12700">
            <a:solidFill>
              <a:srgbClr val="49D17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42832" y="896112"/>
            <a:ext cx="2377440" cy="2377440"/>
          </a:xfrm>
          <a:prstGeom prst="ellipse">
            <a:avLst/>
          </a:prstGeom>
          <a:solidFill>
            <a:srgbClr val="49D17D">
              <a:alpha val="8000"/>
            </a:srgbClr>
          </a:solidFill>
          <a:ln w="12700">
            <a:solidFill>
              <a:srgbClr val="49D17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49808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9D17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04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OBSERVABILITY + PROOF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7223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must explain what happened, why, and what to do next.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13232" y="624535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6575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DREAMCHAMBER / MC96 · SOVEREIGN COMMAND OS v2.0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875520" y="61813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GORUNFREE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One command becomes one trace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Receipts are the business truth; OpenTelemetry is the operational lens.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0F1823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2002536"/>
            <a:ext cx="1618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INGRESS SPAN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3816" y="2267712"/>
            <a:ext cx="16184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 · schema · replay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971800" y="18745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0F1823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99816" y="2002536"/>
            <a:ext cx="1618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SPAN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99816" y="2267712"/>
            <a:ext cx="16184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· rule version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257800" y="18745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0F1823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85816" y="2002536"/>
            <a:ext cx="1618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QUEUE SPAN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85816" y="2267712"/>
            <a:ext cx="16184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wait · attempt · lease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543800" y="18745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0F182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71816" y="2002536"/>
            <a:ext cx="1618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WORKER SPAN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71816" y="2267712"/>
            <a:ext cx="16184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· result · evidence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829800" y="187452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0F1823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57816" y="2002536"/>
            <a:ext cx="1435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RECEIPT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957816" y="2267712"/>
            <a:ext cx="143560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terminal proof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0" y="2404872"/>
            <a:ext cx="338328" cy="0"/>
          </a:xfrm>
          <a:prstGeom prst="line">
            <a:avLst/>
          </a:prstGeom>
          <a:noFill/>
          <a:ln w="1905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846320" y="2404872"/>
            <a:ext cx="338328" cy="0"/>
          </a:xfrm>
          <a:prstGeom prst="line">
            <a:avLst/>
          </a:prstGeom>
          <a:noFill/>
          <a:ln w="1905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132320" y="2404872"/>
            <a:ext cx="338328" cy="0"/>
          </a:xfrm>
          <a:prstGeom prst="line">
            <a:avLst/>
          </a:prstGeom>
          <a:noFill/>
          <a:ln w="1905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418320" y="2404872"/>
            <a:ext cx="338328" cy="0"/>
          </a:xfrm>
          <a:prstGeom prst="line">
            <a:avLst/>
          </a:prstGeom>
          <a:noFill/>
          <a:ln w="1905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96112" y="3794760"/>
            <a:ext cx="10378440" cy="1325880"/>
          </a:xfrm>
          <a:prstGeom prst="roundRect">
            <a:avLst>
              <a:gd name="adj" fmla="val 5517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61288" y="4050792"/>
            <a:ext cx="1600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ATTRIBUTES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0" y="3977640"/>
            <a:ext cx="79552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actor_id · source · command · resource_type · risk_class · policy_version · state · failure_class · latency_ms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73552" y="5513832"/>
            <a:ext cx="571500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46704" y="5582412"/>
            <a:ext cx="5568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RAW SECRETS · NO FULL TRANSCRIPTS · NO TOKEN VALUES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 CHAIN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Append-only receipts with a hash chain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Lightweight tamper evidence—without pretending a database row is immutable.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011680" cy="1298448"/>
          </a:xfrm>
          <a:prstGeom prst="roundRect">
            <a:avLst>
              <a:gd name="adj" fmla="val 5634"/>
            </a:avLst>
          </a:prstGeom>
          <a:solidFill>
            <a:srgbClr val="0F1823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57400"/>
            <a:ext cx="502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R₁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25880" y="2130552"/>
            <a:ext cx="1097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hash(prev=∅)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2487168"/>
            <a:ext cx="228600" cy="0"/>
          </a:xfrm>
          <a:prstGeom prst="line">
            <a:avLst/>
          </a:prstGeom>
          <a:noFill/>
          <a:ln w="1778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44368" y="1828800"/>
            <a:ext cx="2011680" cy="1298448"/>
          </a:xfrm>
          <a:prstGeom prst="roundRect">
            <a:avLst>
              <a:gd name="adj" fmla="val 5634"/>
            </a:avLst>
          </a:prstGeom>
          <a:solidFill>
            <a:srgbClr val="0F1823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81528" y="2057400"/>
            <a:ext cx="502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B8D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R₂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630168" y="2130552"/>
            <a:ext cx="1097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hash(R₁)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56048" y="2487168"/>
            <a:ext cx="228600" cy="0"/>
          </a:xfrm>
          <a:prstGeom prst="line">
            <a:avLst/>
          </a:prstGeom>
          <a:noFill/>
          <a:ln w="1778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48656" y="1828800"/>
            <a:ext cx="2011680" cy="1298448"/>
          </a:xfrm>
          <a:prstGeom prst="roundRect">
            <a:avLst>
              <a:gd name="adj" fmla="val 5634"/>
            </a:avLst>
          </a:prstGeom>
          <a:solidFill>
            <a:srgbClr val="0F182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85816" y="2057400"/>
            <a:ext cx="502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R₃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934456" y="2130552"/>
            <a:ext cx="1097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hash(R₂)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60336" y="2487168"/>
            <a:ext cx="228600" cy="0"/>
          </a:xfrm>
          <a:prstGeom prst="line">
            <a:avLst/>
          </a:prstGeom>
          <a:noFill/>
          <a:ln w="1778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52944" y="1828800"/>
            <a:ext cx="2011680" cy="1298448"/>
          </a:xfrm>
          <a:prstGeom prst="roundRect">
            <a:avLst>
              <a:gd name="adj" fmla="val 5634"/>
            </a:avLst>
          </a:prstGeom>
          <a:solidFill>
            <a:srgbClr val="0F1823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90104" y="2057400"/>
            <a:ext cx="502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R₄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238744" y="2130552"/>
            <a:ext cx="1097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hash(R₃)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564624" y="2487168"/>
            <a:ext cx="228600" cy="0"/>
          </a:xfrm>
          <a:prstGeom prst="line">
            <a:avLst/>
          </a:prstGeom>
          <a:noFill/>
          <a:ln w="1778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857232" y="1828800"/>
            <a:ext cx="2011680" cy="1298448"/>
          </a:xfrm>
          <a:prstGeom prst="roundRect">
            <a:avLst>
              <a:gd name="adj" fmla="val 5634"/>
            </a:avLst>
          </a:prstGeom>
          <a:solidFill>
            <a:srgbClr val="0F1823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94392" y="2057400"/>
            <a:ext cx="502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R₅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0543032" y="2130552"/>
            <a:ext cx="1097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hash(R₄)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0" y="388620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0F1823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71216" y="4014216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ROOT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871216" y="4279392"/>
            <a:ext cx="24871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Merkle / chain head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675120" y="388620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0F1823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03136" y="4014216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ANCHOR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03136" y="4279392"/>
            <a:ext cx="24871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 object + Git commit / second store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486400" y="4370832"/>
            <a:ext cx="1188720" cy="0"/>
          </a:xfrm>
          <a:prstGeom prst="line">
            <a:avLst/>
          </a:prstGeom>
          <a:noFill/>
          <a:ln w="2159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743200" y="5623560"/>
            <a:ext cx="662940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16352" y="5692140"/>
            <a:ext cx="6483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ANCHOR PROVES NO SILENT REWRITE · NOT “BLOCKCHAIN THEATRE”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Redaction and retention are part of the schema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cannot “remember responsibly” unless fields have explicit handling rules.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04672" y="1572768"/>
            <a:ext cx="10561320" cy="749808"/>
          </a:xfrm>
          <a:prstGeom prst="roundRect">
            <a:avLst>
              <a:gd name="adj" fmla="val 9756"/>
            </a:avLst>
          </a:prstGeom>
          <a:solidFill>
            <a:srgbClr val="0F1823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1783080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851660"/>
            <a:ext cx="1042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2487168" y="1764792"/>
            <a:ext cx="4937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command type · status · timing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35240" y="1764792"/>
            <a:ext cx="30632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retention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" y="2560320"/>
            <a:ext cx="10561320" cy="749808"/>
          </a:xfrm>
          <a:prstGeom prst="roundRect">
            <a:avLst>
              <a:gd name="adj" fmla="val 9756"/>
            </a:avLst>
          </a:prstGeom>
          <a:solidFill>
            <a:srgbClr val="0F1823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4128" y="2770632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839212"/>
            <a:ext cx="1042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2487168" y="2752344"/>
            <a:ext cx="4937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 IDs · error details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35240" y="2752344"/>
            <a:ext cx="30632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90–365 days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" y="3547872"/>
            <a:ext cx="10561320" cy="749808"/>
          </a:xfrm>
          <a:prstGeom prst="roundRect">
            <a:avLst>
              <a:gd name="adj" fmla="val 9756"/>
            </a:avLst>
          </a:prstGeom>
          <a:solidFill>
            <a:srgbClr val="0F1823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3758184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826764"/>
            <a:ext cx="1042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SENSITIVE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2487168" y="3739896"/>
            <a:ext cx="4937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transcript excerpt · user content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35240" y="3739896"/>
            <a:ext cx="30632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/ opt-in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" y="4535424"/>
            <a:ext cx="10561320" cy="749808"/>
          </a:xfrm>
          <a:prstGeom prst="roundRect">
            <a:avLst>
              <a:gd name="adj" fmla="val 9756"/>
            </a:avLst>
          </a:prstGeom>
          <a:solidFill>
            <a:srgbClr val="0F1823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4128" y="4745736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4814316"/>
            <a:ext cx="1042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SECRET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2487168" y="4727448"/>
            <a:ext cx="4937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tokens · raw credentials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35240" y="4727448"/>
            <a:ext cx="30632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log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926080" y="5742432"/>
            <a:ext cx="626364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5811012"/>
            <a:ext cx="6117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REDACT BEFORE EXPORT · RETENTION JOBS EMIT RECEIPTS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MC96 Hub: operator calm first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v1 Hub is read-only, high-contrast, voice-navigable, and built around exceptions—not dashboard noise.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60020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46504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STATE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1984248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49D17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GREEN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432304"/>
            <a:ext cx="21854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575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critical checks passing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346704" y="160020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11296" y="1746504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P95 COMMAND LATENCY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511296" y="1984248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43D5E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184 ms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11296" y="2432304"/>
            <a:ext cx="21854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575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excluding external workers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35040" y="160020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1746504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APPROVALS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199632" y="1984248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4B85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99632" y="2432304"/>
            <a:ext cx="21854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575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expires in 46s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723376" y="160020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87968" y="1746504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FAILURES TODAY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887968" y="1984248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6B6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887968" y="2432304"/>
            <a:ext cx="21854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575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classified + resolved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13232" y="3127248"/>
            <a:ext cx="6629400" cy="2212848"/>
          </a:xfrm>
          <a:prstGeom prst="roundRect">
            <a:avLst>
              <a:gd name="adj" fmla="val 3306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3401568"/>
            <a:ext cx="21031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RECEIPT STREAM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87552" y="3822192"/>
            <a:ext cx="58064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4B85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12:04:22  dns.record.update  PREVIEW_READY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87552" y="4133088"/>
            <a:ext cx="58064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4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12:04:31  studio.session.start  SUCCEEDED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87552" y="4443984"/>
            <a:ext cx="58064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4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12:04:43  agent.task.assign  QUEUED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87552" y="4754880"/>
            <a:ext cx="58064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4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12:05:02  webhook.slack  DUPLICATE_NOOP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662672" y="3127248"/>
            <a:ext cx="3584448" cy="2212848"/>
          </a:xfrm>
          <a:prstGeom prst="roundRect">
            <a:avLst>
              <a:gd name="adj" fmla="val 3306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36992" y="3401568"/>
            <a:ext cx="2240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OPERATOR ACTIONS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36992" y="3867912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19872" y="3794760"/>
            <a:ext cx="2560320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 receipt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936992" y="4176522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19872" y="4103370"/>
            <a:ext cx="2560320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preview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936992" y="4485132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19872" y="4411980"/>
            <a:ext cx="2560320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Cancel queued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936992" y="4793742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19872" y="4720590"/>
            <a:ext cx="2560320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Acknowledge alert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Measure trust—not vanity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four core metrics tell the operator whether the system is fast, safe, understandable, and recoverable.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691640"/>
            <a:ext cx="2606040" cy="1078992"/>
          </a:xfrm>
          <a:prstGeom prst="roundRect">
            <a:avLst>
              <a:gd name="adj" fmla="val 6780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37944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 RATE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2075688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49D17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99.8%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523744"/>
            <a:ext cx="22768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575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terminal success / valid commands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429000" y="1691640"/>
            <a:ext cx="2606040" cy="1078992"/>
          </a:xfrm>
          <a:prstGeom prst="roundRect">
            <a:avLst>
              <a:gd name="adj" fmla="val 6780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3592" y="1837944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PREVIEW ACCURACY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593592" y="2075688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43D5E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97.4%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93592" y="2523744"/>
            <a:ext cx="22768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575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without plan edit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199632" y="1691640"/>
            <a:ext cx="2606040" cy="1078992"/>
          </a:xfrm>
          <a:prstGeom prst="roundRect">
            <a:avLst>
              <a:gd name="adj" fmla="val 6780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4224" y="1837944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RECOVERY TIME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364224" y="2075688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4B85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3m 12s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364224" y="2523744"/>
            <a:ext cx="22768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575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failure → resolved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970264" y="1691640"/>
            <a:ext cx="2606040" cy="1078992"/>
          </a:xfrm>
          <a:prstGeom prst="roundRect">
            <a:avLst>
              <a:gd name="adj" fmla="val 6780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34856" y="1837944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SILENT FAILURES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134856" y="2075688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6B6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134856" y="2523744"/>
            <a:ext cx="22768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575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 release gate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325880" y="3337560"/>
            <a:ext cx="9555480" cy="1508760"/>
          </a:xfrm>
          <a:prstGeom prst="roundRect">
            <a:avLst>
              <a:gd name="adj" fmla="val 4848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18488" y="3630168"/>
            <a:ext cx="1783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 SIGNALS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29000" y="3566160"/>
            <a:ext cx="69494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 friction · duplicate suppression · rollback success · voice clarification rate · policy denial reasons · connector health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749040" y="5440680"/>
            <a:ext cx="475488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22192" y="5509260"/>
            <a:ext cx="4608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ENGAGEMENT METRICS IN THE TRUST CORE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The AI family becomes bounded roles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Personality guides the interface. Capabilities and policy define authority.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49808" y="1554480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0F1823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755648"/>
            <a:ext cx="1234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GABRIEL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50008" y="1719072"/>
            <a:ext cx="20116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guardian · policy explainer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07408" y="1892808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961388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direct execution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6281928" y="1554480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0F1823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0528" y="1755648"/>
            <a:ext cx="1234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82128" y="1719072"/>
            <a:ext cx="20116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operator · continuity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939528" y="1892808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12680" y="1961388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R0/R1 only by default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749808" y="2880360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0F182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3081528"/>
            <a:ext cx="1234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SHIRL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50008" y="3044952"/>
            <a:ext cx="20116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intelligence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07408" y="3218688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3287268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read/analyse/tag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6281928" y="2880360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0F1823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0528" y="3081528"/>
            <a:ext cx="1234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8D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882128" y="3044952"/>
            <a:ext cx="20116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studio orchestration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939528" y="3218688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12680" y="3287268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B8D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capabilities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749808" y="4206240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0F1823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8408" y="4407408"/>
            <a:ext cx="1234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350008" y="4370832"/>
            <a:ext cx="20116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casting + rights workflow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407408" y="4544568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4613148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consent override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281928" y="4206240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0F1823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4407408"/>
            <a:ext cx="1234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DREAM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882128" y="4370832"/>
            <a:ext cx="20116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 / roadmap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939528" y="4544568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12680" y="4613148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2A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proposal only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2103120" y="5715000"/>
            <a:ext cx="795528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76272" y="5783580"/>
            <a:ext cx="7808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CROSS-ROLE DRIFT · NO SHARED ROOT TOKEN · ALL ACTIONS RECEIPTED</a:t>
            </a:r>
            <a:endParaRPr lang="en-US" sz="8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CHAIN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CI/CD and dependency trust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command spine cannot be trusted if the build pipeline is opaque.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664208" cy="960120"/>
          </a:xfrm>
          <a:prstGeom prst="roundRect">
            <a:avLst>
              <a:gd name="adj" fmla="val 7619"/>
            </a:avLst>
          </a:prstGeom>
          <a:solidFill>
            <a:srgbClr val="0F1823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1956816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LINT + TYPECHECK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5216" y="2221992"/>
            <a:ext cx="14081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gate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121408" y="2313432"/>
            <a:ext cx="192024" cy="0"/>
          </a:xfrm>
          <a:prstGeom prst="line">
            <a:avLst/>
          </a:prstGeom>
          <a:noFill/>
          <a:ln w="1524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77440" y="1828800"/>
            <a:ext cx="1664208" cy="960120"/>
          </a:xfrm>
          <a:prstGeom prst="roundRect">
            <a:avLst>
              <a:gd name="adj" fmla="val 7619"/>
            </a:avLst>
          </a:prstGeom>
          <a:solidFill>
            <a:srgbClr val="0F1823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05456" y="1956816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+ CONTRACT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05456" y="2221992"/>
            <a:ext cx="14081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gate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041648" y="2313432"/>
            <a:ext cx="192024" cy="0"/>
          </a:xfrm>
          <a:prstGeom prst="line">
            <a:avLst/>
          </a:prstGeom>
          <a:noFill/>
          <a:ln w="1524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97680" y="1828800"/>
            <a:ext cx="1664208" cy="960120"/>
          </a:xfrm>
          <a:prstGeom prst="roundRect">
            <a:avLst>
              <a:gd name="adj" fmla="val 7619"/>
            </a:avLst>
          </a:prstGeom>
          <a:solidFill>
            <a:srgbClr val="0F1823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25696" y="1956816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SCAN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25696" y="2221992"/>
            <a:ext cx="14081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gate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61888" y="2313432"/>
            <a:ext cx="192024" cy="0"/>
          </a:xfrm>
          <a:prstGeom prst="line">
            <a:avLst/>
          </a:prstGeom>
          <a:noFill/>
          <a:ln w="1524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17920" y="1828800"/>
            <a:ext cx="1664208" cy="960120"/>
          </a:xfrm>
          <a:prstGeom prst="roundRect">
            <a:avLst>
              <a:gd name="adj" fmla="val 7619"/>
            </a:avLst>
          </a:prstGeom>
          <a:solidFill>
            <a:srgbClr val="0F182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5936" y="1956816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SBOM + LICENSE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45936" y="2221992"/>
            <a:ext cx="14081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dependencies known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882128" y="2313432"/>
            <a:ext cx="192024" cy="0"/>
          </a:xfrm>
          <a:prstGeom prst="line">
            <a:avLst/>
          </a:prstGeom>
          <a:noFill/>
          <a:ln w="1524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138160" y="1828800"/>
            <a:ext cx="1664208" cy="960120"/>
          </a:xfrm>
          <a:prstGeom prst="roundRect">
            <a:avLst>
              <a:gd name="adj" fmla="val 7619"/>
            </a:avLst>
          </a:prstGeom>
          <a:solidFill>
            <a:srgbClr val="0F1823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66176" y="1956816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SIGNED BUILD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66176" y="2221992"/>
            <a:ext cx="14081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provenance attached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802368" y="2313432"/>
            <a:ext cx="192024" cy="0"/>
          </a:xfrm>
          <a:prstGeom prst="line">
            <a:avLst/>
          </a:prstGeom>
          <a:noFill/>
          <a:ln w="15240">
            <a:solidFill>
              <a:srgbClr val="65758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058400" y="1828800"/>
            <a:ext cx="1664208" cy="960120"/>
          </a:xfrm>
          <a:prstGeom prst="roundRect">
            <a:avLst>
              <a:gd name="adj" fmla="val 7619"/>
            </a:avLst>
          </a:prstGeom>
          <a:solidFill>
            <a:srgbClr val="0F1823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86416" y="1956816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CANARY DEPLOY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186416" y="2221992"/>
            <a:ext cx="14081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gate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22960" y="3474720"/>
            <a:ext cx="10469880" cy="1554480"/>
          </a:xfrm>
          <a:prstGeom prst="roundRect">
            <a:avLst>
              <a:gd name="adj" fmla="val 4706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3749040"/>
            <a:ext cx="19202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INVARIANTS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971800" y="3730752"/>
            <a:ext cx="82296" cy="82296"/>
          </a:xfrm>
          <a:prstGeom prst="ellipse">
            <a:avLst/>
          </a:prstGeom>
          <a:solidFill>
            <a:srgbClr val="49D17D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54680" y="3657600"/>
            <a:ext cx="7452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secrets in repo or artifacts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971800" y="3941064"/>
            <a:ext cx="82296" cy="82296"/>
          </a:xfrm>
          <a:prstGeom prst="ellipse">
            <a:avLst/>
          </a:prstGeom>
          <a:solidFill>
            <a:srgbClr val="49D17D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54680" y="3867912"/>
            <a:ext cx="7452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snapshots cannot drift silently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971800" y="4151376"/>
            <a:ext cx="82296" cy="82296"/>
          </a:xfrm>
          <a:prstGeom prst="ellipse">
            <a:avLst/>
          </a:prstGeom>
          <a:solidFill>
            <a:srgbClr val="49D17D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54680" y="4078224"/>
            <a:ext cx="7452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tests cover every R3 command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971800" y="4361688"/>
            <a:ext cx="82296" cy="82296"/>
          </a:xfrm>
          <a:prstGeom prst="ellipse">
            <a:avLst/>
          </a:prstGeom>
          <a:solidFill>
            <a:srgbClr val="49D17D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54680" y="4288536"/>
            <a:ext cx="7452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Acceptance suite runs against local stubs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971800" y="4572000"/>
            <a:ext cx="82296" cy="82296"/>
          </a:xfrm>
          <a:prstGeom prst="ellipse">
            <a:avLst/>
          </a:prstGeom>
          <a:solidFill>
            <a:srgbClr val="49D17D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54680" y="4498848"/>
            <a:ext cx="7452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Rollback package is built before deploy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The proof suite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is real only when these paths pass end-to-end.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3232" y="1417320"/>
            <a:ext cx="5257800" cy="713232"/>
          </a:xfrm>
          <a:prstGeom prst="roundRect">
            <a:avLst>
              <a:gd name="adj" fmla="val 10256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1618488"/>
            <a:ext cx="530352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168706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581912" y="1600200"/>
            <a:ext cx="39776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→ preview → approve → worker → receipt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36792" y="1417320"/>
            <a:ext cx="5257800" cy="713232"/>
          </a:xfrm>
          <a:prstGeom prst="roundRect">
            <a:avLst>
              <a:gd name="adj" fmla="val 10256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1384" y="1618488"/>
            <a:ext cx="530352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74536" y="168706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205472" y="1600200"/>
            <a:ext cx="39776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 request → no-op + linked receipt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13232" y="2377440"/>
            <a:ext cx="5257800" cy="713232"/>
          </a:xfrm>
          <a:prstGeom prst="roundRect">
            <a:avLst>
              <a:gd name="adj" fmla="val 10256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" y="2578608"/>
            <a:ext cx="530352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264718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581912" y="2560320"/>
            <a:ext cx="39776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Expired approval → hard deny + receipt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36792" y="2377440"/>
            <a:ext cx="5257800" cy="713232"/>
          </a:xfrm>
          <a:prstGeom prst="roundRect">
            <a:avLst>
              <a:gd name="adj" fmla="val 10256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1384" y="2578608"/>
            <a:ext cx="530352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74536" y="264718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205472" y="2560320"/>
            <a:ext cx="39776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Worker crash → lease recovery + one effect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13232" y="3337560"/>
            <a:ext cx="5257800" cy="713232"/>
          </a:xfrm>
          <a:prstGeom prst="roundRect">
            <a:avLst>
              <a:gd name="adj" fmla="val 10256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824" y="3538728"/>
            <a:ext cx="530352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" y="360730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8D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581912" y="3520440"/>
            <a:ext cx="39776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loss → outbox republishes event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36792" y="3337560"/>
            <a:ext cx="5257800" cy="713232"/>
          </a:xfrm>
          <a:prstGeom prst="roundRect">
            <a:avLst>
              <a:gd name="adj" fmla="val 10256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01384" y="3538728"/>
            <a:ext cx="530352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4536" y="360730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205472" y="3520440"/>
            <a:ext cx="39776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Rollback → restored state + evidence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13232" y="4297680"/>
            <a:ext cx="5257800" cy="713232"/>
          </a:xfrm>
          <a:prstGeom prst="roundRect">
            <a:avLst>
              <a:gd name="adj" fmla="val 10256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7824" y="4498848"/>
            <a:ext cx="530352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0976" y="456742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581912" y="4480560"/>
            <a:ext cx="39776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Emergency stop → queue paused + alert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743200" y="5650992"/>
            <a:ext cx="662940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16352" y="5719572"/>
            <a:ext cx="6483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STOP CONDITION: ANY SILENT EFFECT OR UNEXPLAINED STATE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Rollout, rollback, and disaster recovery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deployment has a known predecessor, an explicit stop condition, and a verified restore path.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49808" y="1572768"/>
            <a:ext cx="3364992" cy="4224528"/>
          </a:xfrm>
          <a:prstGeom prst="roundRect">
            <a:avLst>
              <a:gd name="adj" fmla="val 2174"/>
            </a:avLst>
          </a:prstGeom>
          <a:solidFill>
            <a:srgbClr val="0F1823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847088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ROLLOUT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24128" y="2377440"/>
            <a:ext cx="82296" cy="82296"/>
          </a:xfrm>
          <a:prstGeom prst="ellipse">
            <a:avLst/>
          </a:prstGeom>
          <a:solidFill>
            <a:srgbClr val="43D5E8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7008" y="2304288"/>
            <a:ext cx="2423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stub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24128" y="2880360"/>
            <a:ext cx="82296" cy="82296"/>
          </a:xfrm>
          <a:prstGeom prst="ellipse">
            <a:avLst/>
          </a:prstGeom>
          <a:solidFill>
            <a:srgbClr val="43D5E8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2807208"/>
            <a:ext cx="2423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GOD canary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24128" y="3383280"/>
            <a:ext cx="82296" cy="82296"/>
          </a:xfrm>
          <a:prstGeom prst="ellipse">
            <a:avLst/>
          </a:prstGeom>
          <a:solidFill>
            <a:srgbClr val="43D5E8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07008" y="3310128"/>
            <a:ext cx="2423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connector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24128" y="3886200"/>
            <a:ext cx="82296" cy="82296"/>
          </a:xfrm>
          <a:prstGeom prst="ellipse">
            <a:avLst/>
          </a:prstGeom>
          <a:solidFill>
            <a:srgbClr val="43D5E8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3813048"/>
            <a:ext cx="2423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canary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24128" y="4389120"/>
            <a:ext cx="82296" cy="82296"/>
          </a:xfrm>
          <a:prstGeom prst="ellipse">
            <a:avLst/>
          </a:prstGeom>
          <a:solidFill>
            <a:srgbClr val="43D5E8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4315968"/>
            <a:ext cx="2423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production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407408" y="1572768"/>
            <a:ext cx="3364992" cy="4224528"/>
          </a:xfrm>
          <a:prstGeom prst="roundRect">
            <a:avLst>
              <a:gd name="adj" fmla="val 2174"/>
            </a:avLst>
          </a:prstGeom>
          <a:solidFill>
            <a:srgbClr val="0F1823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1728" y="1847088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ROLLBACK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81728" y="2377440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2304288"/>
            <a:ext cx="2423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snapshot config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81728" y="2880360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2807208"/>
            <a:ext cx="2423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preserve receipts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81728" y="3383280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3310128"/>
            <a:ext cx="2423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disable new commands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81728" y="3886200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3813048"/>
            <a:ext cx="2423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restore previous build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81728" y="4389120"/>
            <a:ext cx="82296" cy="82296"/>
          </a:xfrm>
          <a:prstGeom prst="ellipse">
            <a:avLst/>
          </a:prstGeom>
          <a:solidFill>
            <a:srgbClr val="E4B85A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4315968"/>
            <a:ext cx="2423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reconcile effects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65008" y="1572768"/>
            <a:ext cx="3364992" cy="4224528"/>
          </a:xfrm>
          <a:prstGeom prst="roundRect">
            <a:avLst>
              <a:gd name="adj" fmla="val 2174"/>
            </a:avLst>
          </a:prstGeom>
          <a:solidFill>
            <a:srgbClr val="0F1823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39328" y="1847088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DISASTER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339328" y="2377440"/>
            <a:ext cx="82296" cy="82296"/>
          </a:xfrm>
          <a:prstGeom prst="ellipse">
            <a:avLst/>
          </a:prstGeom>
          <a:solidFill>
            <a:srgbClr val="49D17D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22208" y="2304288"/>
            <a:ext cx="2423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local mode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339328" y="2880360"/>
            <a:ext cx="82296" cy="82296"/>
          </a:xfrm>
          <a:prstGeom prst="ellipse">
            <a:avLst/>
          </a:prstGeom>
          <a:solidFill>
            <a:srgbClr val="49D17D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22208" y="2807208"/>
            <a:ext cx="2423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sealed key backup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339328" y="3383280"/>
            <a:ext cx="82296" cy="82296"/>
          </a:xfrm>
          <a:prstGeom prst="ellipse">
            <a:avLst/>
          </a:prstGeom>
          <a:solidFill>
            <a:srgbClr val="49D17D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22208" y="3310128"/>
            <a:ext cx="2423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 / external receipt copy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339328" y="3886200"/>
            <a:ext cx="82296" cy="82296"/>
          </a:xfrm>
          <a:prstGeom prst="ellipse">
            <a:avLst/>
          </a:prstGeom>
          <a:solidFill>
            <a:srgbClr val="49D17D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22208" y="3813048"/>
            <a:ext cx="2423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rebuild from Git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339328" y="4389120"/>
            <a:ext cx="82296" cy="82296"/>
          </a:xfrm>
          <a:prstGeom prst="ellipse">
            <a:avLst/>
          </a:prstGeom>
          <a:solidFill>
            <a:srgbClr val="49D17D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22208" y="4315968"/>
            <a:ext cx="2423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restore drill quarterly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TRUTH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What exists now vs what comes next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Credibility rises when architecture separates current proof from intended capability.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0F1823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984248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2052828"/>
            <a:ext cx="859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423160" y="1920240"/>
            <a:ext cx="81381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 Zero · schemas · demo flow · mc96d skeleton · security doctrine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926080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0F1823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3218688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287268"/>
            <a:ext cx="859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23160" y="3154680"/>
            <a:ext cx="81381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machine · policy engine · durable inbox/outbox · Ed25519 receipts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160520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0F182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4453128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521708"/>
            <a:ext cx="859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23160" y="4389120"/>
            <a:ext cx="81381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multi-operator approvals · connector marketplace · public proof portal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28800" y="5330952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E4B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2267712" y="5532120"/>
            <a:ext cx="8247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Never confuse a beautiful specification with a deployed control.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DAYS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Launch the smallest complete command spine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objective is not feature count. It is one undeniable, safe, end-to-end proof.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2514600" cy="2971800"/>
          </a:xfrm>
          <a:prstGeom prst="roundRect">
            <a:avLst>
              <a:gd name="adj" fmla="val 2909"/>
            </a:avLst>
          </a:prstGeom>
          <a:solidFill>
            <a:srgbClr val="0F1823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1993392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1872" y="2061972"/>
            <a:ext cx="1362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20574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contracts + state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20574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schemas, SQLite, receipts, tests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502152" y="1691640"/>
            <a:ext cx="2514600" cy="2971800"/>
          </a:xfrm>
          <a:prstGeom prst="roundRect">
            <a:avLst>
              <a:gd name="adj" fmla="val 2909"/>
            </a:avLst>
          </a:prstGeom>
          <a:solidFill>
            <a:srgbClr val="0F1823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05072" y="1993392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78224" y="2061972"/>
            <a:ext cx="1362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30752" y="2743200"/>
            <a:ext cx="20574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+ approval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30752" y="3520440"/>
            <a:ext cx="20574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classes, plan hash, tokens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18504" y="1691640"/>
            <a:ext cx="2514600" cy="2971800"/>
          </a:xfrm>
          <a:prstGeom prst="roundRect">
            <a:avLst>
              <a:gd name="adj" fmla="val 2909"/>
            </a:avLst>
          </a:prstGeom>
          <a:solidFill>
            <a:srgbClr val="0F182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21424" y="1993392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94576" y="2061972"/>
            <a:ext cx="1362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47104" y="2743200"/>
            <a:ext cx="20574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real worker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47104" y="3520440"/>
            <a:ext cx="20574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Cloudflare DNS preview + guarded execute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34856" y="1691640"/>
            <a:ext cx="2514600" cy="2971800"/>
          </a:xfrm>
          <a:prstGeom prst="roundRect">
            <a:avLst>
              <a:gd name="adj" fmla="val 2909"/>
            </a:avLst>
          </a:prstGeom>
          <a:solidFill>
            <a:srgbClr val="0F1823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37776" y="1993392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10928" y="2061972"/>
            <a:ext cx="1362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63456" y="2743200"/>
            <a:ext cx="20574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+ Hub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63456" y="3520440"/>
            <a:ext cx="20574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Whisper input, read-only dashboard, demo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148840" y="5285232"/>
            <a:ext cx="795528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21992" y="5353812"/>
            <a:ext cx="7808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DEMO: “UPDATE DNS” → PREVIEW → APPROVE → EXECUTE → SIGNED RECEIPT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 DAYS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1206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From proof to sovereign operator OS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52144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only after the spine is trustworthy.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0F1823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65960" y="21031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49D1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39112" y="2171700"/>
            <a:ext cx="905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0–30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" y="2816352"/>
            <a:ext cx="2926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9D1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3401568"/>
            <a:ext cx="28346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command domain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90288" y="182880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0F1823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33288" y="21031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43D5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2171700"/>
            <a:ext cx="905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31–60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18888" y="2816352"/>
            <a:ext cx="2926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GENERALIZE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64608" y="3401568"/>
            <a:ext cx="28346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connector contract + studio session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57616" y="182880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0F1823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00616" y="21031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060A10"/>
          </a:solidFill>
          <a:ln w="12700">
            <a:solidFill>
              <a:srgbClr val="E4B8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73768" y="2171700"/>
            <a:ext cx="905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61–90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86216" y="2816352"/>
            <a:ext cx="2926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4B8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HARDEN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631936" y="3401568"/>
            <a:ext cx="28346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recovery drills + external proof portal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508760" y="4754880"/>
            <a:ext cx="9144000" cy="777240"/>
          </a:xfrm>
          <a:prstGeom prst="roundRect">
            <a:avLst>
              <a:gd name="adj" fmla="val 9412"/>
            </a:avLst>
          </a:prstGeom>
          <a:solidFill>
            <a:srgbClr val="0F1823"/>
          </a:solidFill>
          <a:ln w="12700">
            <a:solidFill>
              <a:srgbClr val="2231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83080" y="5001768"/>
            <a:ext cx="8595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 CRITERIA: 30 consecutive days · zero silent effects · tested restore · operator can explain every failure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2627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6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594360"/>
            <a:ext cx="3886200" cy="3886200"/>
          </a:xfrm>
          <a:prstGeom prst="ellipse">
            <a:avLst/>
          </a:prstGeom>
          <a:solidFill>
            <a:srgbClr val="E4B85A">
              <a:alpha val="6000"/>
            </a:srgbClr>
          </a:solidFill>
          <a:ln w="15240">
            <a:solidFill>
              <a:srgbClr val="E4B85A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09160" y="1143000"/>
            <a:ext cx="2788920" cy="2788920"/>
          </a:xfrm>
          <a:prstGeom prst="ellipse">
            <a:avLst/>
          </a:prstGeom>
          <a:solidFill>
            <a:srgbClr val="43D5E8">
              <a:alpha val="4000"/>
            </a:srgbClr>
          </a:solidFill>
          <a:ln w="12700">
            <a:solidFill>
              <a:srgbClr val="43D5E8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1188720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4F7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We are not automating chaos.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143000" y="1965960"/>
            <a:ext cx="9921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4B85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We are restoring human control.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143000" y="3291840"/>
            <a:ext cx="992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50" kern="0" dirty="0">
                <a:solidFill>
                  <a:srgbClr val="43D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COMMAND · ONE BOUNDED PLAN · ONE TERMINAL RECEIPT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4617720"/>
            <a:ext cx="9921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9D17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GORUNFREE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43000" y="6071616"/>
            <a:ext cx="9921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20" kern="0" dirty="0">
                <a:solidFill>
                  <a:srgbClr val="6575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DREAMCHAMBER / MC96 · SOVEREIGN COMMAND OS v2.0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NOIZYFISH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DreamChamber / MC96 — Sovereign Command OS v2.0</dc:title>
  <dc:subject>DreamChamber / MC96 Sovereign Command OS — Deep Scan Upgrade</dc:subject>
  <dc:creator>Robert Stephen Plowman / RSP_001</dc:creator>
  <cp:lastModifiedBy>Robert Stephen Plowman / RSP_001</cp:lastModifiedBy>
  <cp:revision>1</cp:revision>
  <dcterms:created xsi:type="dcterms:W3CDTF">2026-06-12T20:00:11Z</dcterms:created>
  <dcterms:modified xsi:type="dcterms:W3CDTF">2026-06-12T20:00:11Z</dcterms:modified>
</cp:coreProperties>
</file>